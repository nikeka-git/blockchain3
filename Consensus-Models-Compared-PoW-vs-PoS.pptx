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11305309"/>
  <p:notesSz cx="11305309" cy="14630400"/>
  <p:embeddedFontLst>
    <p:embeddedFont>
      <p:font typeface="Inter"/>
      <p:regular r:id="rId17"/>
    </p:embeddedFont>
    <p:embeddedFont>
      <p:font typeface="Inter"/>
      <p:regular r:id="rId18"/>
    </p:embeddedFont>
    <p:embeddedFont>
      <p:font typeface="Inter"/>
      <p:regular r:id="rId19"/>
    </p:embeddedFont>
    <p:embeddedFont>
      <p:font typeface="Inter"/>
      <p:regular r:id="rId20"/>
    </p:embeddedFont>
    <p:embeddedFont>
      <p:font typeface="Inter"/>
      <p:regular r:id="rId21"/>
    </p:embeddedFont>
    <p:embeddedFont>
      <p:font typeface="Inter"/>
      <p:regular r:id="rId22"/>
    </p:embeddedFont>
    <p:embeddedFont>
      <p:font typeface="Inter"/>
      <p:regular r:id="rId23"/>
    </p:embeddedFont>
    <p:embeddedFont>
      <p:font typeface="Inter"/>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428"/>
            <a:ext cx="14630400" cy="11302452"/>
          </a:xfrm>
          <a:prstGeom prst="rect">
            <a:avLst/>
          </a:prstGeom>
          <a:solidFill>
            <a:srgbClr val="0C0C0C"/>
          </a:solidFill>
          <a:ln/>
        </p:spPr>
      </p:sp>
      <p:sp>
        <p:nvSpPr>
          <p:cNvPr id="3" name="Shape 1"/>
          <p:cNvSpPr/>
          <p:nvPr/>
        </p:nvSpPr>
        <p:spPr>
          <a:xfrm>
            <a:off x="0" y="1428"/>
            <a:ext cx="14630400" cy="11302452"/>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10825249"/>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428"/>
            <a:ext cx="14630400" cy="11302452"/>
          </a:xfrm>
          <a:prstGeom prst="rect">
            <a:avLst/>
          </a:prstGeom>
          <a:solidFill>
            <a:srgbClr val="0C0C0C"/>
          </a:solidFill>
          <a:ln/>
        </p:spPr>
      </p:sp>
      <p:sp>
        <p:nvSpPr>
          <p:cNvPr id="3" name="Shape 1"/>
          <p:cNvSpPr/>
          <p:nvPr/>
        </p:nvSpPr>
        <p:spPr>
          <a:xfrm>
            <a:off x="0" y="1428"/>
            <a:ext cx="14630400" cy="11302452"/>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10825249"/>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428"/>
            <a:ext cx="14630400" cy="11302452"/>
          </a:xfrm>
          <a:prstGeom prst="rect">
            <a:avLst/>
          </a:prstGeom>
          <a:solidFill>
            <a:srgbClr val="0C0C0C"/>
          </a:solidFill>
          <a:ln/>
        </p:spPr>
      </p:sp>
      <p:sp>
        <p:nvSpPr>
          <p:cNvPr id="3" name="Shape 1"/>
          <p:cNvSpPr/>
          <p:nvPr/>
        </p:nvSpPr>
        <p:spPr>
          <a:xfrm>
            <a:off x="0" y="1428"/>
            <a:ext cx="14630400" cy="11302452"/>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10825249"/>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11305309"/>
          </a:xfrm>
          <a:prstGeom prst="rect">
            <a:avLst/>
          </a:prstGeom>
          <a:solidFill>
            <a:srgbClr val="0C0C0C"/>
          </a:solidFill>
          <a:ln/>
        </p:spPr>
      </p:sp>
      <p:sp>
        <p:nvSpPr>
          <p:cNvPr id="3" name="Shape 1"/>
          <p:cNvSpPr/>
          <p:nvPr/>
        </p:nvSpPr>
        <p:spPr>
          <a:xfrm>
            <a:off x="0" y="0"/>
            <a:ext cx="14630400" cy="11305309"/>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10825249"/>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428"/>
            <a:ext cx="14630400" cy="11302452"/>
          </a:xfrm>
          <a:prstGeom prst="rect">
            <a:avLst/>
          </a:prstGeom>
          <a:solidFill>
            <a:srgbClr val="0C0C0C"/>
          </a:solidFill>
          <a:ln/>
        </p:spPr>
      </p:sp>
      <p:sp>
        <p:nvSpPr>
          <p:cNvPr id="3" name="Shape 1"/>
          <p:cNvSpPr/>
          <p:nvPr/>
        </p:nvSpPr>
        <p:spPr>
          <a:xfrm>
            <a:off x="0" y="1428"/>
            <a:ext cx="14630400" cy="11302452"/>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10825249"/>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428"/>
            <a:ext cx="14630400" cy="11302452"/>
          </a:xfrm>
          <a:prstGeom prst="rect">
            <a:avLst/>
          </a:prstGeom>
          <a:solidFill>
            <a:srgbClr val="0C0C0C"/>
          </a:solidFill>
          <a:ln/>
        </p:spPr>
      </p:sp>
      <p:sp>
        <p:nvSpPr>
          <p:cNvPr id="3" name="Shape 1"/>
          <p:cNvSpPr/>
          <p:nvPr/>
        </p:nvSpPr>
        <p:spPr>
          <a:xfrm>
            <a:off x="0" y="1428"/>
            <a:ext cx="14630400" cy="11302452"/>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10825249"/>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428"/>
            <a:ext cx="14630400" cy="11302452"/>
          </a:xfrm>
          <a:prstGeom prst="rect">
            <a:avLst/>
          </a:prstGeom>
          <a:solidFill>
            <a:srgbClr val="0C0C0C"/>
          </a:solidFill>
          <a:ln/>
        </p:spPr>
      </p:sp>
      <p:sp>
        <p:nvSpPr>
          <p:cNvPr id="3" name="Shape 1"/>
          <p:cNvSpPr/>
          <p:nvPr/>
        </p:nvSpPr>
        <p:spPr>
          <a:xfrm>
            <a:off x="0" y="1428"/>
            <a:ext cx="14630400" cy="11302452"/>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10825249"/>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428"/>
            <a:ext cx="14630400" cy="11302452"/>
          </a:xfrm>
          <a:prstGeom prst="rect">
            <a:avLst/>
          </a:prstGeom>
          <a:solidFill>
            <a:srgbClr val="0C0C0C"/>
          </a:solidFill>
          <a:ln/>
        </p:spPr>
      </p:sp>
      <p:sp>
        <p:nvSpPr>
          <p:cNvPr id="3" name="Shape 1"/>
          <p:cNvSpPr/>
          <p:nvPr/>
        </p:nvSpPr>
        <p:spPr>
          <a:xfrm>
            <a:off x="0" y="1428"/>
            <a:ext cx="14630400" cy="11302452"/>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10825249"/>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428"/>
            <a:ext cx="14630400" cy="11302452"/>
          </a:xfrm>
          <a:prstGeom prst="rect">
            <a:avLst/>
          </a:prstGeom>
          <a:solidFill>
            <a:srgbClr val="0C0C0C"/>
          </a:solidFill>
          <a:ln/>
        </p:spPr>
      </p:sp>
      <p:sp>
        <p:nvSpPr>
          <p:cNvPr id="3" name="Shape 1"/>
          <p:cNvSpPr/>
          <p:nvPr/>
        </p:nvSpPr>
        <p:spPr>
          <a:xfrm>
            <a:off x="0" y="1428"/>
            <a:ext cx="14630400" cy="11302452"/>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10825249"/>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428"/>
            <a:ext cx="14630400" cy="11302452"/>
          </a:xfrm>
          <a:prstGeom prst="rect">
            <a:avLst/>
          </a:prstGeom>
          <a:solidFill>
            <a:srgbClr val="0C0C0C"/>
          </a:solidFill>
          <a:ln/>
        </p:spPr>
      </p:sp>
      <p:sp>
        <p:nvSpPr>
          <p:cNvPr id="3" name="Shape 1"/>
          <p:cNvSpPr/>
          <p:nvPr/>
        </p:nvSpPr>
        <p:spPr>
          <a:xfrm>
            <a:off x="0" y="1428"/>
            <a:ext cx="14630400" cy="11302452"/>
          </a:xfrm>
          <a:prstGeom prst="rect">
            <a:avLst/>
          </a:prstGeom>
          <a:solidFill>
            <a:srgbClr val="272525"/>
          </a:solidFill>
          <a:ln/>
        </p:spPr>
      </p:sp>
      <p:pic>
        <p:nvPicPr>
          <p:cNvPr id="4" name="Image 0" descr="preencoded.png">
            <a:hlinkClick r:id="rId2" tooltip=""/>
          </p:cNvPr>
          <p:cNvPicPr>
            <a:picLocks noChangeAspect="1"/>
          </p:cNvPicPr>
          <p:nvPr/>
        </p:nvPicPr>
        <p:blipFill>
          <a:blip r:embed="rId1"/>
          <a:stretch>
            <a:fillRect/>
          </a:stretch>
        </p:blipFill>
        <p:spPr>
          <a:xfrm>
            <a:off x="12839215" y="10825249"/>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image" Target="../media/image-4-10.png"/><Relationship Id="rId11" Type="http://schemas.openxmlformats.org/officeDocument/2006/relationships/image" Target="../media/image-4-11.svg"/><Relationship Id="rId12" Type="http://schemas.openxmlformats.org/officeDocument/2006/relationships/slideLayout" Target="../slideLayouts/slideLayout5.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slideLayout" Target="../slideLayouts/slideLayout8.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625044"/>
            <a:ext cx="12089844" cy="708605"/>
          </a:xfrm>
          <a:prstGeom prst="rect">
            <a:avLst/>
          </a:prstGeom>
          <a:noFill/>
          <a:ln/>
        </p:spPr>
        <p:txBody>
          <a:bodyPr wrap="none" lIns="0" tIns="0" rIns="0" bIns="0" rtlCol="0" anchor="t"/>
          <a:lstStyle/>
          <a:p>
            <a:pPr algn="l" indent="0" marL="0">
              <a:lnSpc>
                <a:spcPts val="5550"/>
              </a:lnSpc>
              <a:buNone/>
            </a:pPr>
            <a:r>
              <a:rPr lang="en-US" sz="4450" b="1" dirty="0">
                <a:solidFill>
                  <a:srgbClr val="FFFFFF"/>
                </a:solidFill>
                <a:latin typeface="Inter Bold" pitchFamily="34" charset="0"/>
                <a:ea typeface="Inter Bold" pitchFamily="34" charset="-122"/>
                <a:cs typeface="Inter Bold" pitchFamily="34" charset="-120"/>
              </a:rPr>
              <a:t>Consensus Models Compared: PoW vs. PoS</a:t>
            </a:r>
            <a:endParaRPr lang="en-US" sz="4450" dirty="0"/>
          </a:p>
        </p:txBody>
      </p:sp>
      <p:sp>
        <p:nvSpPr>
          <p:cNvPr id="3" name="Text 1"/>
          <p:cNvSpPr/>
          <p:nvPr/>
        </p:nvSpPr>
        <p:spPr>
          <a:xfrm>
            <a:off x="793790" y="1787166"/>
            <a:ext cx="13042821"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An in-depth analysis of blockchain consensus mechanisms, focusing on their architectural foundations, security implications, and real-world performance.</a:t>
            </a:r>
            <a:endParaRPr lang="en-US" sz="1750" dirty="0"/>
          </a:p>
        </p:txBody>
      </p:sp>
      <p:sp>
        <p:nvSpPr>
          <p:cNvPr id="4" name="Text 2"/>
          <p:cNvSpPr/>
          <p:nvPr/>
        </p:nvSpPr>
        <p:spPr>
          <a:xfrm>
            <a:off x="793790" y="2767882"/>
            <a:ext cx="13042821"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Tsybus Nikita</a:t>
            </a:r>
            <a:endParaRPr lang="en-US" sz="1750" dirty="0"/>
          </a:p>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January 2026</a:t>
            </a:r>
            <a:endParaRPr lang="en-US" sz="1750" dirty="0"/>
          </a:p>
        </p:txBody>
      </p:sp>
      <p:sp>
        <p:nvSpPr>
          <p:cNvPr id="5" name="Text 3"/>
          <p:cNvSpPr/>
          <p:nvPr/>
        </p:nvSpPr>
        <p:spPr>
          <a:xfrm>
            <a:off x="793790" y="3952621"/>
            <a:ext cx="6108740" cy="362814"/>
          </a:xfrm>
          <a:prstGeom prst="rect">
            <a:avLst/>
          </a:prstGeom>
          <a:noFill/>
          <a:ln/>
        </p:spPr>
        <p:txBody>
          <a:bodyPr wrap="none" lIns="0" tIns="0" rIns="0" bIns="0" rtlCol="0" anchor="t"/>
          <a:lstStyle/>
          <a:p>
            <a:pPr algn="l" indent="0" marL="0">
              <a:lnSpc>
                <a:spcPts val="2850"/>
              </a:lnSpc>
              <a:buNone/>
            </a:pPr>
            <a:endParaRPr lang="en-US" sz="1750" dirty="0"/>
          </a:p>
        </p:txBody>
      </p:sp>
      <p:sp>
        <p:nvSpPr>
          <p:cNvPr id="6" name="Text 4"/>
          <p:cNvSpPr/>
          <p:nvPr/>
        </p:nvSpPr>
        <p:spPr>
          <a:xfrm>
            <a:off x="7463552" y="3952621"/>
            <a:ext cx="6380559" cy="362814"/>
          </a:xfrm>
          <a:prstGeom prst="rect">
            <a:avLst/>
          </a:prstGeom>
          <a:noFill/>
          <a:ln/>
        </p:spPr>
        <p:txBody>
          <a:bodyPr wrap="none" lIns="0" tIns="0" rIns="0" bIns="0" rtlCol="0" anchor="t"/>
          <a:lstStyle/>
          <a:p>
            <a:pPr algn="l" indent="0" marL="0">
              <a:lnSpc>
                <a:spcPts val="2850"/>
              </a:lnSpc>
              <a:buNone/>
            </a:pPr>
            <a:endParaRPr lang="en-US" sz="1750" dirty="0"/>
          </a:p>
        </p:txBody>
      </p:sp>
      <p:sp>
        <p:nvSpPr>
          <p:cNvPr id="7" name="Text 5"/>
          <p:cNvSpPr/>
          <p:nvPr/>
        </p:nvSpPr>
        <p:spPr>
          <a:xfrm>
            <a:off x="793790" y="4774546"/>
            <a:ext cx="13042821" cy="362814"/>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25044"/>
            <a:ext cx="10346174" cy="566837"/>
          </a:xfrm>
          <a:prstGeom prst="rect">
            <a:avLst/>
          </a:prstGeom>
          <a:noFill/>
          <a:ln/>
        </p:spPr>
        <p:txBody>
          <a:bodyPr wrap="none" lIns="0" tIns="0" rIns="0" bIns="0" rtlCol="0" anchor="t"/>
          <a:lstStyle/>
          <a:p>
            <a:pPr algn="l" indent="0" marL="0">
              <a:lnSpc>
                <a:spcPts val="4450"/>
              </a:lnSpc>
              <a:buNone/>
            </a:pPr>
            <a:r>
              <a:rPr lang="en-US" sz="3550" b="1" dirty="0">
                <a:solidFill>
                  <a:srgbClr val="FFFFFF"/>
                </a:solidFill>
                <a:latin typeface="Inter Bold" pitchFamily="34" charset="0"/>
                <a:ea typeface="Inter Bold" pitchFamily="34" charset="-122"/>
                <a:cs typeface="Inter Bold" pitchFamily="34" charset="-120"/>
              </a:rPr>
              <a:t>Agenda: Navigating the Consensus Landscape</a:t>
            </a:r>
            <a:endParaRPr lang="en-US" sz="3550" dirty="0"/>
          </a:p>
        </p:txBody>
      </p:sp>
      <p:sp>
        <p:nvSpPr>
          <p:cNvPr id="3" name="Text 1"/>
          <p:cNvSpPr/>
          <p:nvPr/>
        </p:nvSpPr>
        <p:spPr>
          <a:xfrm>
            <a:off x="793790" y="1645398"/>
            <a:ext cx="226814" cy="283418"/>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Light" pitchFamily="34" charset="0"/>
                <a:ea typeface="Inter Light" pitchFamily="34" charset="-122"/>
                <a:cs typeface="Inter Light" pitchFamily="34" charset="-120"/>
              </a:rPr>
              <a:t>01</a:t>
            </a:r>
            <a:endParaRPr lang="en-US" sz="1750" dirty="0"/>
          </a:p>
        </p:txBody>
      </p:sp>
      <p:sp>
        <p:nvSpPr>
          <p:cNvPr id="4" name="Shape 2"/>
          <p:cNvSpPr/>
          <p:nvPr/>
        </p:nvSpPr>
        <p:spPr>
          <a:xfrm>
            <a:off x="793790" y="2000355"/>
            <a:ext cx="6407944" cy="30473"/>
          </a:xfrm>
          <a:prstGeom prst="rect">
            <a:avLst/>
          </a:prstGeom>
          <a:solidFill>
            <a:srgbClr val="2B0AFF"/>
          </a:solidFill>
          <a:ln/>
        </p:spPr>
      </p:sp>
      <p:sp>
        <p:nvSpPr>
          <p:cNvPr id="5" name="Text 3"/>
          <p:cNvSpPr/>
          <p:nvPr/>
        </p:nvSpPr>
        <p:spPr>
          <a:xfrm>
            <a:off x="793790" y="2174620"/>
            <a:ext cx="4589383" cy="354243"/>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Introduction &amp; Block Architecture</a:t>
            </a:r>
            <a:endParaRPr lang="en-US" sz="2200" dirty="0"/>
          </a:p>
        </p:txBody>
      </p:sp>
      <p:sp>
        <p:nvSpPr>
          <p:cNvPr id="6" name="Text 4"/>
          <p:cNvSpPr/>
          <p:nvPr/>
        </p:nvSpPr>
        <p:spPr>
          <a:xfrm>
            <a:off x="793790" y="2664918"/>
            <a:ext cx="6407944" cy="362814"/>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Setting the stage with core blockchain components.</a:t>
            </a:r>
            <a:endParaRPr lang="en-US" sz="1750" dirty="0"/>
          </a:p>
        </p:txBody>
      </p:sp>
      <p:sp>
        <p:nvSpPr>
          <p:cNvPr id="7" name="Text 5"/>
          <p:cNvSpPr/>
          <p:nvPr/>
        </p:nvSpPr>
        <p:spPr>
          <a:xfrm>
            <a:off x="7428548" y="1645398"/>
            <a:ext cx="226814" cy="283418"/>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Light" pitchFamily="34" charset="0"/>
                <a:ea typeface="Inter Light" pitchFamily="34" charset="-122"/>
                <a:cs typeface="Inter Light" pitchFamily="34" charset="-120"/>
              </a:rPr>
              <a:t>02</a:t>
            </a:r>
            <a:endParaRPr lang="en-US" sz="1750" dirty="0"/>
          </a:p>
        </p:txBody>
      </p:sp>
      <p:sp>
        <p:nvSpPr>
          <p:cNvPr id="8" name="Shape 6"/>
          <p:cNvSpPr/>
          <p:nvPr/>
        </p:nvSpPr>
        <p:spPr>
          <a:xfrm>
            <a:off x="7428548" y="2000355"/>
            <a:ext cx="6408063" cy="30473"/>
          </a:xfrm>
          <a:prstGeom prst="rect">
            <a:avLst/>
          </a:prstGeom>
          <a:solidFill>
            <a:srgbClr val="2B0AFF"/>
          </a:solidFill>
          <a:ln/>
        </p:spPr>
      </p:sp>
      <p:sp>
        <p:nvSpPr>
          <p:cNvPr id="9" name="Text 7"/>
          <p:cNvSpPr/>
          <p:nvPr/>
        </p:nvSpPr>
        <p:spPr>
          <a:xfrm>
            <a:off x="7428548" y="2174620"/>
            <a:ext cx="4414718" cy="354243"/>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Proof-of-Work (PoW) Deep Dive</a:t>
            </a:r>
            <a:endParaRPr lang="en-US" sz="2200" dirty="0"/>
          </a:p>
        </p:txBody>
      </p:sp>
      <p:sp>
        <p:nvSpPr>
          <p:cNvPr id="10" name="Text 8"/>
          <p:cNvSpPr/>
          <p:nvPr/>
        </p:nvSpPr>
        <p:spPr>
          <a:xfrm>
            <a:off x="7428548" y="2664918"/>
            <a:ext cx="6408063"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Exploring its mechanisms, benefits, and inherent challenges.</a:t>
            </a:r>
            <a:endParaRPr lang="en-US" sz="1750" dirty="0"/>
          </a:p>
        </p:txBody>
      </p:sp>
      <p:sp>
        <p:nvSpPr>
          <p:cNvPr id="11" name="Text 9"/>
          <p:cNvSpPr/>
          <p:nvPr/>
        </p:nvSpPr>
        <p:spPr>
          <a:xfrm>
            <a:off x="793790" y="3787283"/>
            <a:ext cx="226814" cy="283418"/>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Light" pitchFamily="34" charset="0"/>
                <a:ea typeface="Inter Light" pitchFamily="34" charset="-122"/>
                <a:cs typeface="Inter Light" pitchFamily="34" charset="-120"/>
              </a:rPr>
              <a:t>03</a:t>
            </a:r>
            <a:endParaRPr lang="en-US" sz="1750" dirty="0"/>
          </a:p>
        </p:txBody>
      </p:sp>
      <p:sp>
        <p:nvSpPr>
          <p:cNvPr id="12" name="Shape 10"/>
          <p:cNvSpPr/>
          <p:nvPr/>
        </p:nvSpPr>
        <p:spPr>
          <a:xfrm>
            <a:off x="793790" y="4142241"/>
            <a:ext cx="6407944" cy="30473"/>
          </a:xfrm>
          <a:prstGeom prst="rect">
            <a:avLst/>
          </a:prstGeom>
          <a:solidFill>
            <a:srgbClr val="2B0AFF"/>
          </a:solidFill>
          <a:ln/>
        </p:spPr>
      </p:sp>
      <p:sp>
        <p:nvSpPr>
          <p:cNvPr id="13" name="Text 11"/>
          <p:cNvSpPr/>
          <p:nvPr/>
        </p:nvSpPr>
        <p:spPr>
          <a:xfrm>
            <a:off x="793790" y="4316505"/>
            <a:ext cx="4181713" cy="354243"/>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Proof-of-Stake (PoS) Unveiled</a:t>
            </a:r>
            <a:endParaRPr lang="en-US" sz="2200" dirty="0"/>
          </a:p>
        </p:txBody>
      </p:sp>
      <p:sp>
        <p:nvSpPr>
          <p:cNvPr id="14" name="Text 12"/>
          <p:cNvSpPr/>
          <p:nvPr/>
        </p:nvSpPr>
        <p:spPr>
          <a:xfrm>
            <a:off x="793790" y="4806804"/>
            <a:ext cx="6407944"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Understanding its evolution, design principles, and advantages.</a:t>
            </a:r>
            <a:endParaRPr lang="en-US" sz="1750" dirty="0"/>
          </a:p>
        </p:txBody>
      </p:sp>
      <p:sp>
        <p:nvSpPr>
          <p:cNvPr id="15" name="Text 13"/>
          <p:cNvSpPr/>
          <p:nvPr/>
        </p:nvSpPr>
        <p:spPr>
          <a:xfrm>
            <a:off x="7428548" y="3787283"/>
            <a:ext cx="226814" cy="283418"/>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Light" pitchFamily="34" charset="0"/>
                <a:ea typeface="Inter Light" pitchFamily="34" charset="-122"/>
                <a:cs typeface="Inter Light" pitchFamily="34" charset="-120"/>
              </a:rPr>
              <a:t>04</a:t>
            </a:r>
            <a:endParaRPr lang="en-US" sz="1750" dirty="0"/>
          </a:p>
        </p:txBody>
      </p:sp>
      <p:sp>
        <p:nvSpPr>
          <p:cNvPr id="16" name="Shape 14"/>
          <p:cNvSpPr/>
          <p:nvPr/>
        </p:nvSpPr>
        <p:spPr>
          <a:xfrm>
            <a:off x="7428548" y="4142241"/>
            <a:ext cx="6408063" cy="30473"/>
          </a:xfrm>
          <a:prstGeom prst="rect">
            <a:avLst/>
          </a:prstGeom>
          <a:solidFill>
            <a:srgbClr val="2B0AFF"/>
          </a:solidFill>
          <a:ln/>
        </p:spPr>
      </p:sp>
      <p:sp>
        <p:nvSpPr>
          <p:cNvPr id="17" name="Text 15"/>
          <p:cNvSpPr/>
          <p:nvPr/>
        </p:nvSpPr>
        <p:spPr>
          <a:xfrm>
            <a:off x="7428548" y="4316505"/>
            <a:ext cx="5368528" cy="354243"/>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Comparative Analysis &amp; Threat Models</a:t>
            </a:r>
            <a:endParaRPr lang="en-US" sz="2200" dirty="0"/>
          </a:p>
        </p:txBody>
      </p:sp>
      <p:sp>
        <p:nvSpPr>
          <p:cNvPr id="18" name="Text 16"/>
          <p:cNvSpPr/>
          <p:nvPr/>
        </p:nvSpPr>
        <p:spPr>
          <a:xfrm>
            <a:off x="7428548" y="4806804"/>
            <a:ext cx="6408063" cy="362814"/>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A side-by-side technical evaluation of both systems.</a:t>
            </a:r>
            <a:endParaRPr lang="en-US" sz="1750" dirty="0"/>
          </a:p>
        </p:txBody>
      </p:sp>
      <p:sp>
        <p:nvSpPr>
          <p:cNvPr id="19" name="Text 17"/>
          <p:cNvSpPr/>
          <p:nvPr/>
        </p:nvSpPr>
        <p:spPr>
          <a:xfrm>
            <a:off x="793790" y="5929169"/>
            <a:ext cx="226814" cy="283418"/>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Light" pitchFamily="34" charset="0"/>
                <a:ea typeface="Inter Light" pitchFamily="34" charset="-122"/>
                <a:cs typeface="Inter Light" pitchFamily="34" charset="-120"/>
              </a:rPr>
              <a:t>05</a:t>
            </a:r>
            <a:endParaRPr lang="en-US" sz="1750" dirty="0"/>
          </a:p>
        </p:txBody>
      </p:sp>
      <p:sp>
        <p:nvSpPr>
          <p:cNvPr id="20" name="Shape 18"/>
          <p:cNvSpPr/>
          <p:nvPr/>
        </p:nvSpPr>
        <p:spPr>
          <a:xfrm>
            <a:off x="793790" y="6284126"/>
            <a:ext cx="6407944" cy="30473"/>
          </a:xfrm>
          <a:prstGeom prst="rect">
            <a:avLst/>
          </a:prstGeom>
          <a:solidFill>
            <a:srgbClr val="2B0AFF"/>
          </a:solidFill>
          <a:ln/>
        </p:spPr>
      </p:sp>
      <p:sp>
        <p:nvSpPr>
          <p:cNvPr id="21" name="Text 19"/>
          <p:cNvSpPr/>
          <p:nvPr/>
        </p:nvSpPr>
        <p:spPr>
          <a:xfrm>
            <a:off x="793790" y="6458391"/>
            <a:ext cx="4752023" cy="354243"/>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Real-World Applications &amp; Attacks</a:t>
            </a:r>
            <a:endParaRPr lang="en-US" sz="2200" dirty="0"/>
          </a:p>
        </p:txBody>
      </p:sp>
      <p:sp>
        <p:nvSpPr>
          <p:cNvPr id="22" name="Text 20"/>
          <p:cNvSpPr/>
          <p:nvPr/>
        </p:nvSpPr>
        <p:spPr>
          <a:xfrm>
            <a:off x="793790" y="6948689"/>
            <a:ext cx="6407944" cy="362814"/>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Examining practical examples and historical vulnerabilities.</a:t>
            </a:r>
            <a:endParaRPr lang="en-US" sz="1750" dirty="0"/>
          </a:p>
        </p:txBody>
      </p:sp>
      <p:sp>
        <p:nvSpPr>
          <p:cNvPr id="23" name="Text 21"/>
          <p:cNvSpPr/>
          <p:nvPr/>
        </p:nvSpPr>
        <p:spPr>
          <a:xfrm>
            <a:off x="7428548" y="5929169"/>
            <a:ext cx="226814" cy="283418"/>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Light" pitchFamily="34" charset="0"/>
                <a:ea typeface="Inter Light" pitchFamily="34" charset="-122"/>
                <a:cs typeface="Inter Light" pitchFamily="34" charset="-120"/>
              </a:rPr>
              <a:t>06</a:t>
            </a:r>
            <a:endParaRPr lang="en-US" sz="1750" dirty="0"/>
          </a:p>
        </p:txBody>
      </p:sp>
      <p:sp>
        <p:nvSpPr>
          <p:cNvPr id="24" name="Shape 22"/>
          <p:cNvSpPr/>
          <p:nvPr/>
        </p:nvSpPr>
        <p:spPr>
          <a:xfrm>
            <a:off x="7428548" y="6284126"/>
            <a:ext cx="6408063" cy="30473"/>
          </a:xfrm>
          <a:prstGeom prst="rect">
            <a:avLst/>
          </a:prstGeom>
          <a:solidFill>
            <a:srgbClr val="2B0AFF"/>
          </a:solidFill>
          <a:ln/>
        </p:spPr>
      </p:sp>
      <p:sp>
        <p:nvSpPr>
          <p:cNvPr id="25" name="Text 23"/>
          <p:cNvSpPr/>
          <p:nvPr/>
        </p:nvSpPr>
        <p:spPr>
          <a:xfrm>
            <a:off x="7428548" y="6458391"/>
            <a:ext cx="3935849" cy="354243"/>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Conclusion &amp; Future Outlook</a:t>
            </a:r>
            <a:endParaRPr lang="en-US" sz="2200" dirty="0"/>
          </a:p>
        </p:txBody>
      </p:sp>
      <p:sp>
        <p:nvSpPr>
          <p:cNvPr id="26" name="Text 24"/>
          <p:cNvSpPr/>
          <p:nvPr/>
        </p:nvSpPr>
        <p:spPr>
          <a:xfrm>
            <a:off x="7428548" y="6948689"/>
            <a:ext cx="6408063" cy="362814"/>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Summarizing key insights and the path forward for Web3.</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25044"/>
            <a:ext cx="10346650" cy="566837"/>
          </a:xfrm>
          <a:prstGeom prst="rect">
            <a:avLst/>
          </a:prstGeom>
          <a:noFill/>
          <a:ln/>
        </p:spPr>
        <p:txBody>
          <a:bodyPr wrap="none" lIns="0" tIns="0" rIns="0" bIns="0" rtlCol="0" anchor="t"/>
          <a:lstStyle/>
          <a:p>
            <a:pPr algn="l" indent="0" marL="0">
              <a:lnSpc>
                <a:spcPts val="4450"/>
              </a:lnSpc>
              <a:buNone/>
            </a:pPr>
            <a:r>
              <a:rPr lang="en-US" sz="3550" b="1" dirty="0">
                <a:solidFill>
                  <a:srgbClr val="FFFFFF"/>
                </a:solidFill>
                <a:latin typeface="Inter Bold" pitchFamily="34" charset="0"/>
                <a:ea typeface="Inter Bold" pitchFamily="34" charset="-122"/>
                <a:cs typeface="Inter Bold" pitchFamily="34" charset="-120"/>
              </a:rPr>
              <a:t>Deep Architecture Exploration: Block Structure</a:t>
            </a:r>
            <a:endParaRPr lang="en-US" sz="3550" dirty="0"/>
          </a:p>
        </p:txBody>
      </p:sp>
      <p:sp>
        <p:nvSpPr>
          <p:cNvPr id="3" name="Text 1"/>
          <p:cNvSpPr/>
          <p:nvPr/>
        </p:nvSpPr>
        <p:spPr>
          <a:xfrm>
            <a:off x="793790" y="1645398"/>
            <a:ext cx="13042821"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A blockchain block is fundamentally composed of two parts: a fixed-size header and a variable-size body containing transactions. This design ensures efficient data verification and chain integrity.</a:t>
            </a:r>
            <a:endParaRPr lang="en-US" sz="1750" dirty="0"/>
          </a:p>
        </p:txBody>
      </p:sp>
      <p:sp>
        <p:nvSpPr>
          <p:cNvPr id="4" name="Text 2"/>
          <p:cNvSpPr/>
          <p:nvPr/>
        </p:nvSpPr>
        <p:spPr>
          <a:xfrm>
            <a:off x="793790" y="2852872"/>
            <a:ext cx="4430078" cy="425187"/>
          </a:xfrm>
          <a:prstGeom prst="rect">
            <a:avLst/>
          </a:prstGeom>
          <a:noFill/>
          <a:ln/>
        </p:spPr>
        <p:txBody>
          <a:bodyPr wrap="none" lIns="0" tIns="0" rIns="0" bIns="0" rtlCol="0" anchor="t"/>
          <a:lstStyle/>
          <a:p>
            <a:pPr algn="l" indent="0" marL="0">
              <a:lnSpc>
                <a:spcPts val="3300"/>
              </a:lnSpc>
              <a:buNone/>
            </a:pPr>
            <a:r>
              <a:rPr lang="en-US" sz="2650" b="1" dirty="0">
                <a:solidFill>
                  <a:srgbClr val="FFFFFF"/>
                </a:solidFill>
                <a:latin typeface="Inter Bold" pitchFamily="34" charset="0"/>
                <a:ea typeface="Inter Bold" pitchFamily="34" charset="-122"/>
                <a:cs typeface="Inter Bold" pitchFamily="34" charset="-120"/>
              </a:rPr>
              <a:t>Block Header Components</a:t>
            </a:r>
            <a:endParaRPr lang="en-US" sz="2650" dirty="0"/>
          </a:p>
        </p:txBody>
      </p:sp>
      <p:sp>
        <p:nvSpPr>
          <p:cNvPr id="5" name="Text 3"/>
          <p:cNvSpPr/>
          <p:nvPr/>
        </p:nvSpPr>
        <p:spPr>
          <a:xfrm>
            <a:off x="793790" y="3504817"/>
            <a:ext cx="6244709"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The header contains critical metadata, crucial for the block's identity and linkage in the chain:</a:t>
            </a:r>
            <a:endParaRPr lang="en-US" sz="1750" dirty="0"/>
          </a:p>
        </p:txBody>
      </p:sp>
      <p:sp>
        <p:nvSpPr>
          <p:cNvPr id="6" name="Text 4"/>
          <p:cNvSpPr/>
          <p:nvPr/>
        </p:nvSpPr>
        <p:spPr>
          <a:xfrm>
            <a:off x="793790" y="4434467"/>
            <a:ext cx="6244709" cy="362814"/>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Version:</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Protocol version number (4 bytes).</a:t>
            </a:r>
            <a:endParaRPr lang="en-US" sz="1750" dirty="0"/>
          </a:p>
        </p:txBody>
      </p:sp>
      <p:sp>
        <p:nvSpPr>
          <p:cNvPr id="7" name="Text 5"/>
          <p:cNvSpPr/>
          <p:nvPr/>
        </p:nvSpPr>
        <p:spPr>
          <a:xfrm>
            <a:off x="793790" y="4876557"/>
            <a:ext cx="6244709" cy="725627"/>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Previous Block Hash:</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32-byte hash of the prior block's header, ensuring immutability.</a:t>
            </a:r>
            <a:endParaRPr lang="en-US" sz="1750" dirty="0"/>
          </a:p>
        </p:txBody>
      </p:sp>
      <p:sp>
        <p:nvSpPr>
          <p:cNvPr id="8" name="Text 6"/>
          <p:cNvSpPr/>
          <p:nvPr/>
        </p:nvSpPr>
        <p:spPr>
          <a:xfrm>
            <a:off x="793790" y="5681461"/>
            <a:ext cx="6244709" cy="725627"/>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Merkle Root:</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32-byte hash summarizing all transactions within the block.</a:t>
            </a:r>
            <a:endParaRPr lang="en-US" sz="1750" dirty="0"/>
          </a:p>
        </p:txBody>
      </p:sp>
      <p:sp>
        <p:nvSpPr>
          <p:cNvPr id="9" name="Text 7"/>
          <p:cNvSpPr/>
          <p:nvPr/>
        </p:nvSpPr>
        <p:spPr>
          <a:xfrm>
            <a:off x="793790" y="6486364"/>
            <a:ext cx="6244709" cy="362814"/>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Timestamp:</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Unix timestamp of block creation.</a:t>
            </a:r>
            <a:endParaRPr lang="en-US" sz="1750" dirty="0"/>
          </a:p>
        </p:txBody>
      </p:sp>
      <p:sp>
        <p:nvSpPr>
          <p:cNvPr id="10" name="Text 8"/>
          <p:cNvSpPr/>
          <p:nvPr/>
        </p:nvSpPr>
        <p:spPr>
          <a:xfrm>
            <a:off x="793790" y="6928454"/>
            <a:ext cx="6244709" cy="725627"/>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Difficulty Target/Bits:</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Compact representation of current mining difficulty.</a:t>
            </a:r>
            <a:endParaRPr lang="en-US" sz="1750" dirty="0"/>
          </a:p>
        </p:txBody>
      </p:sp>
      <p:sp>
        <p:nvSpPr>
          <p:cNvPr id="11" name="Text 9"/>
          <p:cNvSpPr/>
          <p:nvPr/>
        </p:nvSpPr>
        <p:spPr>
          <a:xfrm>
            <a:off x="793790" y="7733357"/>
            <a:ext cx="6244709" cy="725627"/>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Nonce:</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A 32-bit value adjusted during Proof-of-Work mining.</a:t>
            </a:r>
            <a:endParaRPr lang="en-US" sz="1750" dirty="0"/>
          </a:p>
        </p:txBody>
      </p:sp>
      <p:sp>
        <p:nvSpPr>
          <p:cNvPr id="12" name="Text 10"/>
          <p:cNvSpPr/>
          <p:nvPr/>
        </p:nvSpPr>
        <p:spPr>
          <a:xfrm>
            <a:off x="793790" y="8538260"/>
            <a:ext cx="6244709" cy="725627"/>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Extra Data (Ethereum):</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Arbitrary 32-byte field for additional metadata.</a:t>
            </a:r>
            <a:endParaRPr lang="en-US" sz="1750" dirty="0"/>
          </a:p>
        </p:txBody>
      </p:sp>
      <p:sp>
        <p:nvSpPr>
          <p:cNvPr id="13" name="Text 11"/>
          <p:cNvSpPr/>
          <p:nvPr/>
        </p:nvSpPr>
        <p:spPr>
          <a:xfrm>
            <a:off x="7599521" y="2852872"/>
            <a:ext cx="3402330" cy="425187"/>
          </a:xfrm>
          <a:prstGeom prst="rect">
            <a:avLst/>
          </a:prstGeom>
          <a:noFill/>
          <a:ln/>
        </p:spPr>
        <p:txBody>
          <a:bodyPr wrap="none" lIns="0" tIns="0" rIns="0" bIns="0" rtlCol="0" anchor="t"/>
          <a:lstStyle/>
          <a:p>
            <a:pPr algn="l" indent="0" marL="0">
              <a:lnSpc>
                <a:spcPts val="3300"/>
              </a:lnSpc>
              <a:buNone/>
            </a:pPr>
            <a:r>
              <a:rPr lang="en-US" sz="2650" b="1" dirty="0">
                <a:solidFill>
                  <a:srgbClr val="FFFFFF"/>
                </a:solidFill>
                <a:latin typeface="Inter Bold" pitchFamily="34" charset="0"/>
                <a:ea typeface="Inter Bold" pitchFamily="34" charset="-122"/>
                <a:cs typeface="Inter Bold" pitchFamily="34" charset="-120"/>
              </a:rPr>
              <a:t>Block Body</a:t>
            </a:r>
            <a:endParaRPr lang="en-US" sz="2650" dirty="0"/>
          </a:p>
        </p:txBody>
      </p:sp>
      <p:sp>
        <p:nvSpPr>
          <p:cNvPr id="14" name="Text 12"/>
          <p:cNvSpPr/>
          <p:nvPr/>
        </p:nvSpPr>
        <p:spPr>
          <a:xfrm>
            <a:off x="7599521" y="3504817"/>
            <a:ext cx="6244709"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The body is primarily a list of transactions, which are organized differently depending on the protocol:</a:t>
            </a:r>
            <a:endParaRPr lang="en-US" sz="1750" dirty="0"/>
          </a:p>
        </p:txBody>
      </p:sp>
      <p:sp>
        <p:nvSpPr>
          <p:cNvPr id="15" name="Text 13"/>
          <p:cNvSpPr/>
          <p:nvPr/>
        </p:nvSpPr>
        <p:spPr>
          <a:xfrm>
            <a:off x="7599521" y="4434467"/>
            <a:ext cx="6244709" cy="725627"/>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Transaction List:</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A variable-sized collection of all validated transactions included in the block.</a:t>
            </a:r>
            <a:endParaRPr lang="en-US" sz="1750" dirty="0"/>
          </a:p>
        </p:txBody>
      </p:sp>
      <p:sp>
        <p:nvSpPr>
          <p:cNvPr id="16" name="Text 14"/>
          <p:cNvSpPr/>
          <p:nvPr/>
        </p:nvSpPr>
        <p:spPr>
          <a:xfrm>
            <a:off x="7599521" y="5239371"/>
            <a:ext cx="6244709" cy="181406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Ethereum's Merkle Patricia Trie (MPT):</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In Ethereum, transactions are not just listed but organized into an MPT. This advanced data structure allows for efficient inclusion proofs and state updates, optimizing how the blockchain's state is managed and verified.</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6999" y="594690"/>
            <a:ext cx="7867174" cy="540649"/>
          </a:xfrm>
          <a:prstGeom prst="rect">
            <a:avLst/>
          </a:prstGeom>
          <a:noFill/>
          <a:ln/>
        </p:spPr>
        <p:txBody>
          <a:bodyPr wrap="none" lIns="0" tIns="0" rIns="0" bIns="0" rtlCol="0" anchor="t"/>
          <a:lstStyle/>
          <a:p>
            <a:pPr algn="l" indent="0" marL="0">
              <a:lnSpc>
                <a:spcPts val="4250"/>
              </a:lnSpc>
              <a:buNone/>
            </a:pPr>
            <a:r>
              <a:rPr lang="en-US" sz="3400" b="1" dirty="0">
                <a:solidFill>
                  <a:srgbClr val="FFFFFF"/>
                </a:solidFill>
                <a:latin typeface="Inter Bold" pitchFamily="34" charset="0"/>
                <a:ea typeface="Inter Bold" pitchFamily="34" charset="-122"/>
                <a:cs typeface="Inter Bold" pitchFamily="34" charset="-120"/>
              </a:rPr>
              <a:t>Merkle Trees: Ensuring Data Integrity</a:t>
            </a:r>
            <a:endParaRPr lang="en-US" sz="3400" dirty="0"/>
          </a:p>
        </p:txBody>
      </p:sp>
      <p:sp>
        <p:nvSpPr>
          <p:cNvPr id="3" name="Text 1"/>
          <p:cNvSpPr/>
          <p:nvPr/>
        </p:nvSpPr>
        <p:spPr>
          <a:xfrm>
            <a:off x="756999" y="1567788"/>
            <a:ext cx="13116401" cy="692060"/>
          </a:xfrm>
          <a:prstGeom prst="rect">
            <a:avLst/>
          </a:prstGeom>
          <a:noFill/>
          <a:ln/>
        </p:spPr>
        <p:txBody>
          <a:bodyPr wrap="square" lIns="0" tIns="0" rIns="0" bIns="0" rtlCol="0" anchor="t"/>
          <a:lstStyle/>
          <a:p>
            <a:pPr algn="l" indent="0" marL="0">
              <a:lnSpc>
                <a:spcPts val="2700"/>
              </a:lnSpc>
              <a:buNone/>
            </a:pPr>
            <a:r>
              <a:rPr lang="en-US" sz="1700" dirty="0">
                <a:solidFill>
                  <a:srgbClr val="E5E0DF"/>
                </a:solidFill>
                <a:latin typeface="Inter" pitchFamily="34" charset="0"/>
                <a:ea typeface="Inter" pitchFamily="34" charset="-122"/>
                <a:cs typeface="Inter" pitchFamily="34" charset="-120"/>
              </a:rPr>
              <a:t>Merkle trees are fundamental to blockchain integrity, providing an efficient way to verify transaction inclusion without downloading entire blocks. They are binary hash trees, building a cryptographic summary of all transactions.</a:t>
            </a:r>
            <a:endParaRPr lang="en-US" sz="1700" dirty="0"/>
          </a:p>
        </p:txBody>
      </p:sp>
      <p:pic>
        <p:nvPicPr>
          <p:cNvPr id="4" name="Image 0" descr="preencoded.png">    </p:cNvPr>
          <p:cNvPicPr>
            <a:picLocks noChangeAspect="1"/>
          </p:cNvPicPr>
          <p:nvPr/>
        </p:nvPicPr>
        <p:blipFill>
          <a:blip r:embed="rId1"/>
          <a:stretch>
            <a:fillRect/>
          </a:stretch>
        </p:blipFill>
        <p:spPr>
          <a:xfrm>
            <a:off x="1974771" y="2503033"/>
            <a:ext cx="10680859" cy="5714909"/>
          </a:xfrm>
          <a:prstGeom prst="rect">
            <a:avLst/>
          </a:prstGeom>
        </p:spPr>
      </p:pic>
      <p:sp>
        <p:nvSpPr>
          <p:cNvPr id="5" name="Text 2"/>
          <p:cNvSpPr/>
          <p:nvPr/>
        </p:nvSpPr>
        <p:spPr>
          <a:xfrm>
            <a:off x="6908597" y="3043737"/>
            <a:ext cx="2951151" cy="368803"/>
          </a:xfrm>
          <a:prstGeom prst="rect">
            <a:avLst/>
          </a:prstGeom>
          <a:noFill/>
          <a:ln/>
        </p:spPr>
        <p:txBody>
          <a:bodyPr wrap="none" lIns="0" tIns="0" rIns="0" bIns="0" rtlCol="0" anchor="t"/>
          <a:lstStyle/>
          <a:p>
            <a:pPr algn="l" indent="0" marL="0">
              <a:lnSpc>
                <a:spcPts val="1650"/>
              </a:lnSpc>
              <a:buNone/>
            </a:pPr>
            <a:r>
              <a:rPr lang="en-US" sz="1350" b="1" dirty="0">
                <a:solidFill>
                  <a:srgbClr val="E5E0DF"/>
                </a:solidFill>
                <a:latin typeface="Inter Bold" pitchFamily="34" charset="0"/>
                <a:ea typeface="Inter Bold" pitchFamily="34" charset="-122"/>
                <a:cs typeface="Inter Bold" pitchFamily="34" charset="-120"/>
              </a:rPr>
              <a:t>Transaction Leaves</a:t>
            </a:r>
            <a:endParaRPr lang="en-US" sz="135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19995" y="3103565"/>
            <a:ext cx="262324" cy="262260"/>
          </a:xfrm>
          <a:prstGeom prst="rect">
            <a:avLst/>
          </a:prstGeom>
        </p:spPr>
      </p:pic>
      <p:sp>
        <p:nvSpPr>
          <p:cNvPr id="7" name="Text 3"/>
          <p:cNvSpPr/>
          <p:nvPr/>
        </p:nvSpPr>
        <p:spPr>
          <a:xfrm>
            <a:off x="6908597" y="4092778"/>
            <a:ext cx="2951151" cy="368804"/>
          </a:xfrm>
          <a:prstGeom prst="rect">
            <a:avLst/>
          </a:prstGeom>
          <a:noFill/>
          <a:ln/>
        </p:spPr>
        <p:txBody>
          <a:bodyPr wrap="none" lIns="0" tIns="0" rIns="0" bIns="0" rtlCol="0" anchor="t"/>
          <a:lstStyle/>
          <a:p>
            <a:pPr algn="l" indent="0" marL="0">
              <a:lnSpc>
                <a:spcPts val="1650"/>
              </a:lnSpc>
              <a:buNone/>
            </a:pPr>
            <a:r>
              <a:rPr lang="en-US" sz="1350" b="1" dirty="0">
                <a:solidFill>
                  <a:srgbClr val="E5E0DF"/>
                </a:solidFill>
                <a:latin typeface="Inter Bold" pitchFamily="34" charset="0"/>
                <a:ea typeface="Inter Bold" pitchFamily="34" charset="-122"/>
                <a:cs typeface="Inter Bold" pitchFamily="34" charset="-120"/>
              </a:rPr>
              <a:t>Pairwise Hashes</a:t>
            </a:r>
            <a:endParaRPr lang="en-US" sz="13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9995" y="4152606"/>
            <a:ext cx="262324" cy="262260"/>
          </a:xfrm>
          <a:prstGeom prst="rect">
            <a:avLst/>
          </a:prstGeom>
        </p:spPr>
      </p:pic>
      <p:sp>
        <p:nvSpPr>
          <p:cNvPr id="9" name="Text 4"/>
          <p:cNvSpPr/>
          <p:nvPr/>
        </p:nvSpPr>
        <p:spPr>
          <a:xfrm>
            <a:off x="6908597" y="5141819"/>
            <a:ext cx="2951151" cy="368803"/>
          </a:xfrm>
          <a:prstGeom prst="rect">
            <a:avLst/>
          </a:prstGeom>
          <a:noFill/>
          <a:ln/>
        </p:spPr>
        <p:txBody>
          <a:bodyPr wrap="none" lIns="0" tIns="0" rIns="0" bIns="0" rtlCol="0" anchor="t"/>
          <a:lstStyle/>
          <a:p>
            <a:pPr algn="l" indent="0" marL="0">
              <a:lnSpc>
                <a:spcPts val="1650"/>
              </a:lnSpc>
              <a:buNone/>
            </a:pPr>
            <a:r>
              <a:rPr lang="en-US" sz="1350" b="1" dirty="0">
                <a:solidFill>
                  <a:srgbClr val="E5E0DF"/>
                </a:solidFill>
                <a:latin typeface="Inter Bold" pitchFamily="34" charset="0"/>
                <a:ea typeface="Inter Bold" pitchFamily="34" charset="-122"/>
                <a:cs typeface="Inter Bold" pitchFamily="34" charset="-120"/>
              </a:rPr>
              <a:t>Intermediate Nodes</a:t>
            </a:r>
            <a:endParaRPr lang="en-US" sz="13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9995" y="5201647"/>
            <a:ext cx="262324" cy="262260"/>
          </a:xfrm>
          <a:prstGeom prst="rect">
            <a:avLst/>
          </a:prstGeom>
        </p:spPr>
      </p:pic>
      <p:sp>
        <p:nvSpPr>
          <p:cNvPr id="11" name="Text 5"/>
          <p:cNvSpPr/>
          <p:nvPr/>
        </p:nvSpPr>
        <p:spPr>
          <a:xfrm>
            <a:off x="6908597" y="6190860"/>
            <a:ext cx="2951151" cy="368804"/>
          </a:xfrm>
          <a:prstGeom prst="rect">
            <a:avLst/>
          </a:prstGeom>
          <a:noFill/>
          <a:ln/>
        </p:spPr>
        <p:txBody>
          <a:bodyPr wrap="none" lIns="0" tIns="0" rIns="0" bIns="0" rtlCol="0" anchor="t"/>
          <a:lstStyle/>
          <a:p>
            <a:pPr algn="l" indent="0" marL="0">
              <a:lnSpc>
                <a:spcPts val="1650"/>
              </a:lnSpc>
              <a:buNone/>
            </a:pPr>
            <a:r>
              <a:rPr lang="en-US" sz="1350" b="1" dirty="0">
                <a:solidFill>
                  <a:srgbClr val="E5E0DF"/>
                </a:solidFill>
                <a:latin typeface="Inter Bold" pitchFamily="34" charset="0"/>
                <a:ea typeface="Inter Bold" pitchFamily="34" charset="-122"/>
                <a:cs typeface="Inter Bold" pitchFamily="34" charset="-120"/>
              </a:rPr>
              <a:t>Merkle Root</a:t>
            </a:r>
            <a:endParaRPr lang="en-US" sz="1350" dirty="0"/>
          </a:p>
        </p:txBody>
      </p:sp>
      <p:pic>
        <p:nvPicPr>
          <p:cNvPr id="1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9995" y="6250688"/>
            <a:ext cx="262324" cy="262260"/>
          </a:xfrm>
          <a:prstGeom prst="rect">
            <a:avLst/>
          </a:prstGeom>
        </p:spPr>
      </p:pic>
      <p:sp>
        <p:nvSpPr>
          <p:cNvPr id="13" name="Text 6"/>
          <p:cNvSpPr/>
          <p:nvPr/>
        </p:nvSpPr>
        <p:spPr>
          <a:xfrm>
            <a:off x="6908597" y="7253014"/>
            <a:ext cx="2951151" cy="368803"/>
          </a:xfrm>
          <a:prstGeom prst="rect">
            <a:avLst/>
          </a:prstGeom>
          <a:noFill/>
          <a:ln/>
        </p:spPr>
        <p:txBody>
          <a:bodyPr wrap="none" lIns="0" tIns="0" rIns="0" bIns="0" rtlCol="0" anchor="t"/>
          <a:lstStyle/>
          <a:p>
            <a:pPr algn="l" indent="0" marL="0">
              <a:lnSpc>
                <a:spcPts val="1650"/>
              </a:lnSpc>
              <a:buNone/>
            </a:pPr>
            <a:r>
              <a:rPr lang="en-US" sz="1350" b="1" dirty="0">
                <a:solidFill>
                  <a:srgbClr val="E5E0DF"/>
                </a:solidFill>
                <a:latin typeface="Inter Bold" pitchFamily="34" charset="0"/>
                <a:ea typeface="Inter Bold" pitchFamily="34" charset="-122"/>
                <a:cs typeface="Inter Bold" pitchFamily="34" charset="-120"/>
              </a:rPr>
              <a:t>Inclusion Proof</a:t>
            </a:r>
            <a:endParaRPr lang="en-US" sz="1350" dirty="0"/>
          </a:p>
        </p:txBody>
      </p:sp>
      <p:pic>
        <p:nvPicPr>
          <p:cNvPr id="14"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9995" y="7312842"/>
            <a:ext cx="262324" cy="262261"/>
          </a:xfrm>
          <a:prstGeom prst="rect">
            <a:avLst/>
          </a:prstGeom>
        </p:spPr>
      </p:pic>
      <p:sp>
        <p:nvSpPr>
          <p:cNvPr id="15" name="Text 7"/>
          <p:cNvSpPr/>
          <p:nvPr/>
        </p:nvSpPr>
        <p:spPr>
          <a:xfrm>
            <a:off x="756999" y="8542307"/>
            <a:ext cx="4912876" cy="405428"/>
          </a:xfrm>
          <a:prstGeom prst="rect">
            <a:avLst/>
          </a:prstGeom>
          <a:noFill/>
          <a:ln/>
        </p:spPr>
        <p:txBody>
          <a:bodyPr wrap="none" lIns="0" tIns="0" rIns="0" bIns="0" rtlCol="0" anchor="t"/>
          <a:lstStyle/>
          <a:p>
            <a:pPr algn="l" indent="0" marL="0">
              <a:lnSpc>
                <a:spcPts val="3150"/>
              </a:lnSpc>
              <a:buNone/>
            </a:pPr>
            <a:r>
              <a:rPr lang="en-US" sz="2550" b="1" dirty="0">
                <a:solidFill>
                  <a:srgbClr val="FFFFFF"/>
                </a:solidFill>
                <a:latin typeface="Inter Bold" pitchFamily="34" charset="0"/>
                <a:ea typeface="Inter Bold" pitchFamily="34" charset="-122"/>
                <a:cs typeface="Inter Bold" pitchFamily="34" charset="-120"/>
              </a:rPr>
              <a:t>Proof Generation &amp; Verification</a:t>
            </a:r>
            <a:endParaRPr lang="en-US" sz="2550" dirty="0"/>
          </a:p>
        </p:txBody>
      </p:sp>
      <p:sp>
        <p:nvSpPr>
          <p:cNvPr id="16" name="Text 8"/>
          <p:cNvSpPr/>
          <p:nvPr/>
        </p:nvSpPr>
        <p:spPr>
          <a:xfrm>
            <a:off x="756999" y="9272101"/>
            <a:ext cx="13116401" cy="699678"/>
          </a:xfrm>
          <a:prstGeom prst="rect">
            <a:avLst/>
          </a:prstGeom>
          <a:noFill/>
          <a:ln/>
        </p:spPr>
        <p:txBody>
          <a:bodyPr wrap="square" lIns="0" tIns="0" rIns="0" bIns="0" rtlCol="0" anchor="t"/>
          <a:lstStyle/>
          <a:p>
            <a:pPr algn="l" marL="342900" indent="-342900">
              <a:lnSpc>
                <a:spcPts val="2700"/>
              </a:lnSpc>
              <a:buSzPct val="100000"/>
              <a:buChar char="•"/>
            </a:pPr>
            <a:r>
              <a:rPr lang="en-US" sz="1700" b="1" dirty="0">
                <a:solidFill>
                  <a:srgbClr val="E5E0DF"/>
                </a:solidFill>
                <a:latin typeface="Inter" pitchFamily="34" charset="0"/>
                <a:ea typeface="Inter" pitchFamily="34" charset="-122"/>
                <a:cs typeface="Inter" pitchFamily="34" charset="-120"/>
              </a:rPr>
              <a:t>Proof Generation:</a:t>
            </a:r>
            <a:pPr algn="l" indent="0" marL="0">
              <a:lnSpc>
                <a:spcPts val="2700"/>
              </a:lnSpc>
              <a:buNone/>
            </a:pPr>
            <a:r>
              <a:rPr lang="en-US" sz="1700" dirty="0">
                <a:solidFill>
                  <a:srgbClr val="E5E0DF"/>
                </a:solidFill>
                <a:latin typeface="Inter" pitchFamily="34" charset="0"/>
                <a:ea typeface="Inter" pitchFamily="34" charset="-122"/>
                <a:cs typeface="Inter" pitchFamily="34" charset="-120"/>
              </a:rPr>
              <a:t> To prove a transaction's inclusion, collect sibling hashes along the path from the transaction's leaf node to the Merkle Root. This proof is </a:t>
            </a:r>
            <a:pPr algn="l" indent="0" marL="0">
              <a:lnSpc>
                <a:spcPts val="2700"/>
              </a:lnSpc>
              <a:buNone/>
            </a:pPr>
            <a:r>
              <a:rPr lang="en-US" sz="1700" dirty="0">
                <a:solidFill>
                  <a:srgbClr val="E5E0DF"/>
                </a:solidFill>
                <a:highlight>
                  <a:srgbClr val="343232"/>
                </a:highlight>
                <a:latin typeface="Consolas" pitchFamily="34" charset="0"/>
                <a:ea typeface="Consolas" pitchFamily="34" charset="-122"/>
                <a:cs typeface="Consolas" pitchFamily="34" charset="-120"/>
              </a:rPr>
              <a:t>O(log n)</a:t>
            </a:r>
            <a:pPr algn="l" indent="0" marL="0">
              <a:lnSpc>
                <a:spcPts val="2700"/>
              </a:lnSpc>
              <a:buNone/>
            </a:pPr>
            <a:r>
              <a:rPr lang="en-US" sz="1700" dirty="0">
                <a:solidFill>
                  <a:srgbClr val="E5E0DF"/>
                </a:solidFill>
                <a:latin typeface="Inter" pitchFamily="34" charset="0"/>
                <a:ea typeface="Inter" pitchFamily="34" charset="-122"/>
                <a:cs typeface="Inter" pitchFamily="34" charset="-120"/>
              </a:rPr>
              <a:t> in size.</a:t>
            </a:r>
            <a:endParaRPr lang="en-US" sz="1700" dirty="0"/>
          </a:p>
        </p:txBody>
      </p:sp>
      <p:sp>
        <p:nvSpPr>
          <p:cNvPr id="17" name="Text 9"/>
          <p:cNvSpPr/>
          <p:nvPr/>
        </p:nvSpPr>
        <p:spPr>
          <a:xfrm>
            <a:off x="756999" y="10047365"/>
            <a:ext cx="13116401" cy="692060"/>
          </a:xfrm>
          <a:prstGeom prst="rect">
            <a:avLst/>
          </a:prstGeom>
          <a:noFill/>
          <a:ln/>
        </p:spPr>
        <p:txBody>
          <a:bodyPr wrap="square" lIns="0" tIns="0" rIns="0" bIns="0" rtlCol="0" anchor="t"/>
          <a:lstStyle/>
          <a:p>
            <a:pPr algn="l" marL="342900" indent="-342900">
              <a:lnSpc>
                <a:spcPts val="2700"/>
              </a:lnSpc>
              <a:buSzPct val="100000"/>
              <a:buChar char="•"/>
            </a:pPr>
            <a:r>
              <a:rPr lang="en-US" sz="1700" b="1" dirty="0">
                <a:solidFill>
                  <a:srgbClr val="E5E0DF"/>
                </a:solidFill>
                <a:latin typeface="Inter" pitchFamily="34" charset="0"/>
                <a:ea typeface="Inter" pitchFamily="34" charset="-122"/>
                <a:cs typeface="Inter" pitchFamily="34" charset="-120"/>
              </a:rPr>
              <a:t>Verification:</a:t>
            </a:r>
            <a:pPr algn="l" indent="0" marL="0">
              <a:lnSpc>
                <a:spcPts val="2700"/>
              </a:lnSpc>
              <a:buNone/>
            </a:pPr>
            <a:r>
              <a:rPr lang="en-US" sz="1700" dirty="0">
                <a:solidFill>
                  <a:srgbClr val="E5E0DF"/>
                </a:solidFill>
                <a:latin typeface="Inter" pitchFamily="34" charset="0"/>
                <a:ea typeface="Inter" pitchFamily="34" charset="-122"/>
                <a:cs typeface="Inter" pitchFamily="34" charset="-120"/>
              </a:rPr>
              <a:t> Recompute the root hash using the transaction and the provided proof. If the recomputed root matches the Merkle Root stored in the block header, the transaction is verified as included and untampered.</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25044"/>
            <a:ext cx="7594997" cy="566837"/>
          </a:xfrm>
          <a:prstGeom prst="rect">
            <a:avLst/>
          </a:prstGeom>
          <a:noFill/>
          <a:ln/>
        </p:spPr>
        <p:txBody>
          <a:bodyPr wrap="none" lIns="0" tIns="0" rIns="0" bIns="0" rtlCol="0" anchor="t"/>
          <a:lstStyle/>
          <a:p>
            <a:pPr algn="l" indent="0" marL="0">
              <a:lnSpc>
                <a:spcPts val="4450"/>
              </a:lnSpc>
              <a:buNone/>
            </a:pPr>
            <a:r>
              <a:rPr lang="en-US" sz="3550" b="1" dirty="0">
                <a:solidFill>
                  <a:srgbClr val="FFFFFF"/>
                </a:solidFill>
                <a:latin typeface="Inter Bold" pitchFamily="34" charset="0"/>
                <a:ea typeface="Inter Bold" pitchFamily="34" charset="-122"/>
                <a:cs typeface="Inter Bold" pitchFamily="34" charset="-120"/>
              </a:rPr>
              <a:t>Proof-of-Work (PoW) Architecture</a:t>
            </a:r>
            <a:endParaRPr lang="en-US" sz="3550" dirty="0"/>
          </a:p>
        </p:txBody>
      </p:sp>
      <p:sp>
        <p:nvSpPr>
          <p:cNvPr id="3" name="Text 1"/>
          <p:cNvSpPr/>
          <p:nvPr/>
        </p:nvSpPr>
        <p:spPr>
          <a:xfrm>
            <a:off x="793790" y="1645398"/>
            <a:ext cx="13042821"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PoW, exemplified by Bitcoin and pre-merge Ethereum, relies on computational effort to secure the network. Miners compete to solve a cryptographic puzzle, proving their "work" to add a new block to the chain.</a:t>
            </a:r>
            <a:endParaRPr lang="en-US" sz="1750" dirty="0"/>
          </a:p>
        </p:txBody>
      </p:sp>
      <p:sp>
        <p:nvSpPr>
          <p:cNvPr id="4" name="Shape 2"/>
          <p:cNvSpPr/>
          <p:nvPr/>
        </p:nvSpPr>
        <p:spPr>
          <a:xfrm>
            <a:off x="793790" y="2966191"/>
            <a:ext cx="4196358" cy="4579688"/>
          </a:xfrm>
          <a:prstGeom prst="roundRect">
            <a:avLst>
              <a:gd name="adj" fmla="val 3486"/>
            </a:avLst>
          </a:prstGeom>
          <a:solidFill>
            <a:srgbClr val="272525"/>
          </a:solidFill>
          <a:ln/>
        </p:spPr>
      </p:sp>
      <p:sp>
        <p:nvSpPr>
          <p:cNvPr id="5" name="Shape 3"/>
          <p:cNvSpPr/>
          <p:nvPr/>
        </p:nvSpPr>
        <p:spPr>
          <a:xfrm>
            <a:off x="793790" y="2935719"/>
            <a:ext cx="4196358" cy="121890"/>
          </a:xfrm>
          <a:prstGeom prst="roundRect">
            <a:avLst>
              <a:gd name="adj" fmla="val 78159"/>
            </a:avLst>
          </a:prstGeom>
          <a:solidFill>
            <a:srgbClr val="2B0AFF"/>
          </a:solidFill>
          <a:ln/>
        </p:spPr>
      </p:sp>
      <p:sp>
        <p:nvSpPr>
          <p:cNvPr id="6" name="Shape 4"/>
          <p:cNvSpPr/>
          <p:nvPr/>
        </p:nvSpPr>
        <p:spPr>
          <a:xfrm>
            <a:off x="2551688" y="2626113"/>
            <a:ext cx="680442" cy="680275"/>
          </a:xfrm>
          <a:prstGeom prst="roundRect">
            <a:avLst>
              <a:gd name="adj" fmla="val 134416"/>
            </a:avLst>
          </a:prstGeom>
          <a:solidFill>
            <a:srgbClr val="2B0AFF"/>
          </a:solidFill>
          <a:ln/>
        </p:spPr>
      </p:sp>
      <p:sp>
        <p:nvSpPr>
          <p:cNvPr id="7" name="Text 5"/>
          <p:cNvSpPr/>
          <p:nvPr/>
        </p:nvSpPr>
        <p:spPr>
          <a:xfrm>
            <a:off x="2755761" y="2796212"/>
            <a:ext cx="272177" cy="340078"/>
          </a:xfrm>
          <a:prstGeom prst="rect">
            <a:avLst/>
          </a:prstGeom>
          <a:noFill/>
          <a:ln/>
        </p:spPr>
        <p:txBody>
          <a:bodyPr wrap="none" lIns="0" tIns="0" rIns="0" bIns="0" rtlCol="0" anchor="t"/>
          <a:lstStyle/>
          <a:p>
            <a:pPr algn="l" indent="0" marL="0">
              <a:lnSpc>
                <a:spcPts val="3400"/>
              </a:lnSpc>
              <a:buNone/>
            </a:pPr>
            <a:r>
              <a:rPr lang="en-US" sz="2100" b="1" dirty="0">
                <a:solidFill>
                  <a:srgbClr val="FFFFFF"/>
                </a:solidFill>
                <a:latin typeface="Inter Bold" pitchFamily="34" charset="0"/>
                <a:ea typeface="Inter Bold" pitchFamily="34" charset="-122"/>
                <a:cs typeface="Inter Bold" pitchFamily="34" charset="-120"/>
              </a:rPr>
              <a:t>1</a:t>
            </a:r>
            <a:endParaRPr lang="en-US" sz="2100" dirty="0"/>
          </a:p>
        </p:txBody>
      </p:sp>
      <p:sp>
        <p:nvSpPr>
          <p:cNvPr id="8" name="Text 6"/>
          <p:cNvSpPr/>
          <p:nvPr/>
        </p:nvSpPr>
        <p:spPr>
          <a:xfrm>
            <a:off x="1051084" y="3533028"/>
            <a:ext cx="2835235" cy="354243"/>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Mining Process</a:t>
            </a:r>
            <a:endParaRPr lang="en-US" sz="2200" dirty="0"/>
          </a:p>
        </p:txBody>
      </p:sp>
      <p:sp>
        <p:nvSpPr>
          <p:cNvPr id="9" name="Text 7"/>
          <p:cNvSpPr/>
          <p:nvPr/>
        </p:nvSpPr>
        <p:spPr>
          <a:xfrm>
            <a:off x="1051084" y="4023326"/>
            <a:ext cx="3681770" cy="2902509"/>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Miners repeatedly hash a candidate block's header (which includes the previous block's hash, Merkle root, timestamp, and a nonce) until the resulting hash is below a target difficulty. This energy-intensive process secures the network.</a:t>
            </a:r>
            <a:endParaRPr lang="en-US" sz="1750" dirty="0"/>
          </a:p>
        </p:txBody>
      </p:sp>
      <p:sp>
        <p:nvSpPr>
          <p:cNvPr id="10" name="Shape 8"/>
          <p:cNvSpPr/>
          <p:nvPr/>
        </p:nvSpPr>
        <p:spPr>
          <a:xfrm>
            <a:off x="5216962" y="2966191"/>
            <a:ext cx="4196358" cy="4579688"/>
          </a:xfrm>
          <a:prstGeom prst="roundRect">
            <a:avLst>
              <a:gd name="adj" fmla="val 3486"/>
            </a:avLst>
          </a:prstGeom>
          <a:solidFill>
            <a:srgbClr val="272525"/>
          </a:solidFill>
          <a:ln/>
        </p:spPr>
      </p:sp>
      <p:sp>
        <p:nvSpPr>
          <p:cNvPr id="11" name="Shape 9"/>
          <p:cNvSpPr/>
          <p:nvPr/>
        </p:nvSpPr>
        <p:spPr>
          <a:xfrm>
            <a:off x="5216962" y="2935719"/>
            <a:ext cx="4196358" cy="121890"/>
          </a:xfrm>
          <a:prstGeom prst="roundRect">
            <a:avLst>
              <a:gd name="adj" fmla="val 78159"/>
            </a:avLst>
          </a:prstGeom>
          <a:solidFill>
            <a:srgbClr val="2B0AFF"/>
          </a:solidFill>
          <a:ln/>
        </p:spPr>
      </p:sp>
      <p:sp>
        <p:nvSpPr>
          <p:cNvPr id="12" name="Shape 10"/>
          <p:cNvSpPr/>
          <p:nvPr/>
        </p:nvSpPr>
        <p:spPr>
          <a:xfrm>
            <a:off x="6974860" y="2626113"/>
            <a:ext cx="680442" cy="680275"/>
          </a:xfrm>
          <a:prstGeom prst="roundRect">
            <a:avLst>
              <a:gd name="adj" fmla="val 134416"/>
            </a:avLst>
          </a:prstGeom>
          <a:solidFill>
            <a:srgbClr val="2B0AFF"/>
          </a:solidFill>
          <a:ln/>
        </p:spPr>
      </p:sp>
      <p:sp>
        <p:nvSpPr>
          <p:cNvPr id="13" name="Text 11"/>
          <p:cNvSpPr/>
          <p:nvPr/>
        </p:nvSpPr>
        <p:spPr>
          <a:xfrm>
            <a:off x="7178933" y="2796212"/>
            <a:ext cx="272177" cy="340078"/>
          </a:xfrm>
          <a:prstGeom prst="rect">
            <a:avLst/>
          </a:prstGeom>
          <a:noFill/>
          <a:ln/>
        </p:spPr>
        <p:txBody>
          <a:bodyPr wrap="none" lIns="0" tIns="0" rIns="0" bIns="0" rtlCol="0" anchor="t"/>
          <a:lstStyle/>
          <a:p>
            <a:pPr algn="l" indent="0" marL="0">
              <a:lnSpc>
                <a:spcPts val="3400"/>
              </a:lnSpc>
              <a:buNone/>
            </a:pPr>
            <a:r>
              <a:rPr lang="en-US" sz="2100" b="1" dirty="0">
                <a:solidFill>
                  <a:srgbClr val="FFFFFF"/>
                </a:solidFill>
                <a:latin typeface="Inter Bold" pitchFamily="34" charset="0"/>
                <a:ea typeface="Inter Bold" pitchFamily="34" charset="-122"/>
                <a:cs typeface="Inter Bold" pitchFamily="34" charset="-120"/>
              </a:rPr>
              <a:t>2</a:t>
            </a:r>
            <a:endParaRPr lang="en-US" sz="2100" dirty="0"/>
          </a:p>
        </p:txBody>
      </p:sp>
      <p:sp>
        <p:nvSpPr>
          <p:cNvPr id="14" name="Text 12"/>
          <p:cNvSpPr/>
          <p:nvPr/>
        </p:nvSpPr>
        <p:spPr>
          <a:xfrm>
            <a:off x="5474256" y="3533028"/>
            <a:ext cx="3073241" cy="354243"/>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Block Header &amp; Nonce</a:t>
            </a:r>
            <a:endParaRPr lang="en-US" sz="2200" dirty="0"/>
          </a:p>
        </p:txBody>
      </p:sp>
      <p:sp>
        <p:nvSpPr>
          <p:cNvPr id="15" name="Text 13"/>
          <p:cNvSpPr/>
          <p:nvPr/>
        </p:nvSpPr>
        <p:spPr>
          <a:xfrm>
            <a:off x="5474256" y="4023326"/>
            <a:ext cx="3681770" cy="3265322"/>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Each block header contains a </a:t>
            </a:r>
            <a:pPr algn="l" indent="0" marL="0">
              <a:lnSpc>
                <a:spcPts val="2850"/>
              </a:lnSpc>
              <a:buNone/>
            </a:pPr>
            <a:r>
              <a:rPr lang="en-US" sz="1750" b="1" dirty="0">
                <a:solidFill>
                  <a:srgbClr val="E5E0DF"/>
                </a:solidFill>
                <a:latin typeface="Inter" pitchFamily="34" charset="0"/>
                <a:ea typeface="Inter" pitchFamily="34" charset="-122"/>
                <a:cs typeface="Inter" pitchFamily="34" charset="-120"/>
              </a:rPr>
              <a:t>Nonce</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a value that miners increment and adjust to find a valid hash. The </a:t>
            </a:r>
            <a:pPr algn="l" indent="0" marL="0">
              <a:lnSpc>
                <a:spcPts val="2850"/>
              </a:lnSpc>
              <a:buNone/>
            </a:pPr>
            <a:r>
              <a:rPr lang="en-US" sz="1750" b="1" dirty="0">
                <a:solidFill>
                  <a:srgbClr val="E5E0DF"/>
                </a:solidFill>
                <a:latin typeface="Inter" pitchFamily="34" charset="0"/>
                <a:ea typeface="Inter" pitchFamily="34" charset="-122"/>
                <a:cs typeface="Inter" pitchFamily="34" charset="-120"/>
              </a:rPr>
              <a:t>Difficulty Target</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dictates how low this hash must be. The </a:t>
            </a:r>
            <a:pPr algn="l" indent="0" marL="0">
              <a:lnSpc>
                <a:spcPts val="2850"/>
              </a:lnSpc>
              <a:buNone/>
            </a:pPr>
            <a:r>
              <a:rPr lang="en-US" sz="1750" b="1" dirty="0">
                <a:solidFill>
                  <a:srgbClr val="E5E0DF"/>
                </a:solidFill>
                <a:latin typeface="Inter" pitchFamily="34" charset="0"/>
                <a:ea typeface="Inter" pitchFamily="34" charset="-122"/>
                <a:cs typeface="Inter" pitchFamily="34" charset="-120"/>
              </a:rPr>
              <a:t>Previous Block Hash</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links blocks, ensuring chronological order and immutability.</a:t>
            </a:r>
            <a:endParaRPr lang="en-US" sz="1750" dirty="0"/>
          </a:p>
        </p:txBody>
      </p:sp>
      <p:sp>
        <p:nvSpPr>
          <p:cNvPr id="16" name="Shape 14"/>
          <p:cNvSpPr/>
          <p:nvPr/>
        </p:nvSpPr>
        <p:spPr>
          <a:xfrm>
            <a:off x="9640133" y="2966191"/>
            <a:ext cx="4196358" cy="4579688"/>
          </a:xfrm>
          <a:prstGeom prst="roundRect">
            <a:avLst>
              <a:gd name="adj" fmla="val 3486"/>
            </a:avLst>
          </a:prstGeom>
          <a:solidFill>
            <a:srgbClr val="272525"/>
          </a:solidFill>
          <a:ln/>
        </p:spPr>
      </p:sp>
      <p:sp>
        <p:nvSpPr>
          <p:cNvPr id="17" name="Shape 15"/>
          <p:cNvSpPr/>
          <p:nvPr/>
        </p:nvSpPr>
        <p:spPr>
          <a:xfrm>
            <a:off x="9640133" y="2935719"/>
            <a:ext cx="4196358" cy="121890"/>
          </a:xfrm>
          <a:prstGeom prst="roundRect">
            <a:avLst>
              <a:gd name="adj" fmla="val 78159"/>
            </a:avLst>
          </a:prstGeom>
          <a:solidFill>
            <a:srgbClr val="2B0AFF"/>
          </a:solidFill>
          <a:ln/>
        </p:spPr>
      </p:sp>
      <p:sp>
        <p:nvSpPr>
          <p:cNvPr id="18" name="Shape 16"/>
          <p:cNvSpPr/>
          <p:nvPr/>
        </p:nvSpPr>
        <p:spPr>
          <a:xfrm>
            <a:off x="11398032" y="2626113"/>
            <a:ext cx="680442" cy="680275"/>
          </a:xfrm>
          <a:prstGeom prst="roundRect">
            <a:avLst>
              <a:gd name="adj" fmla="val 134416"/>
            </a:avLst>
          </a:prstGeom>
          <a:solidFill>
            <a:srgbClr val="2B0AFF"/>
          </a:solidFill>
          <a:ln/>
        </p:spPr>
      </p:sp>
      <p:sp>
        <p:nvSpPr>
          <p:cNvPr id="19" name="Text 17"/>
          <p:cNvSpPr/>
          <p:nvPr/>
        </p:nvSpPr>
        <p:spPr>
          <a:xfrm>
            <a:off x="11602105" y="2796212"/>
            <a:ext cx="272177" cy="340078"/>
          </a:xfrm>
          <a:prstGeom prst="rect">
            <a:avLst/>
          </a:prstGeom>
          <a:noFill/>
          <a:ln/>
        </p:spPr>
        <p:txBody>
          <a:bodyPr wrap="none" lIns="0" tIns="0" rIns="0" bIns="0" rtlCol="0" anchor="t"/>
          <a:lstStyle/>
          <a:p>
            <a:pPr algn="l" indent="0" marL="0">
              <a:lnSpc>
                <a:spcPts val="3400"/>
              </a:lnSpc>
              <a:buNone/>
            </a:pPr>
            <a:r>
              <a:rPr lang="en-US" sz="2100" b="1" dirty="0">
                <a:solidFill>
                  <a:srgbClr val="FFFFFF"/>
                </a:solidFill>
                <a:latin typeface="Inter Bold" pitchFamily="34" charset="0"/>
                <a:ea typeface="Inter Bold" pitchFamily="34" charset="-122"/>
                <a:cs typeface="Inter Bold" pitchFamily="34" charset="-120"/>
              </a:rPr>
              <a:t>3</a:t>
            </a:r>
            <a:endParaRPr lang="en-US" sz="2100" dirty="0"/>
          </a:p>
        </p:txBody>
      </p:sp>
      <p:sp>
        <p:nvSpPr>
          <p:cNvPr id="20" name="Text 18"/>
          <p:cNvSpPr/>
          <p:nvPr/>
        </p:nvSpPr>
        <p:spPr>
          <a:xfrm>
            <a:off x="9897427" y="3533028"/>
            <a:ext cx="2835235" cy="354243"/>
          </a:xfrm>
          <a:prstGeom prst="rect">
            <a:avLst/>
          </a:prstGeom>
          <a:noFill/>
          <a:ln/>
        </p:spPr>
        <p:txBody>
          <a:bodyPr wrap="none" lIns="0" tIns="0" rIns="0" bIns="0" rtlCol="0" anchor="t"/>
          <a:lstStyle/>
          <a:p>
            <a:pPr algn="l" indent="0" marL="0">
              <a:lnSpc>
                <a:spcPts val="2750"/>
              </a:lnSpc>
              <a:buNone/>
            </a:pPr>
            <a:r>
              <a:rPr lang="en-US" sz="2200" b="1" dirty="0">
                <a:solidFill>
                  <a:srgbClr val="E5E0DF"/>
                </a:solidFill>
                <a:latin typeface="Inter Bold" pitchFamily="34" charset="0"/>
                <a:ea typeface="Inter Bold" pitchFamily="34" charset="-122"/>
                <a:cs typeface="Inter Bold" pitchFamily="34" charset="-120"/>
              </a:rPr>
              <a:t>Longest Chain Rule</a:t>
            </a:r>
            <a:endParaRPr lang="en-US" sz="2200" dirty="0"/>
          </a:p>
        </p:txBody>
      </p:sp>
      <p:sp>
        <p:nvSpPr>
          <p:cNvPr id="21" name="Text 19"/>
          <p:cNvSpPr/>
          <p:nvPr/>
        </p:nvSpPr>
        <p:spPr>
          <a:xfrm>
            <a:off x="9897427" y="4023326"/>
            <a:ext cx="3681770" cy="253969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In the event of a fork, the network adopts the chain with the most cumulative computational work (the "longest chain"). This mechanism ensures consensus and resolves conflicting block proposals.</a:t>
            </a:r>
            <a:endParaRPr lang="en-US" sz="1750" dirty="0"/>
          </a:p>
        </p:txBody>
      </p:sp>
      <p:sp>
        <p:nvSpPr>
          <p:cNvPr id="22" name="Text 20"/>
          <p:cNvSpPr/>
          <p:nvPr/>
        </p:nvSpPr>
        <p:spPr>
          <a:xfrm>
            <a:off x="793790" y="7800968"/>
            <a:ext cx="13042821"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This intricate dance of hashing, nonce adjustment, and chain selection underpins the robust security of PoW networks, albeit at a significant energy cost.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25044"/>
            <a:ext cx="10065663" cy="566837"/>
          </a:xfrm>
          <a:prstGeom prst="rect">
            <a:avLst/>
          </a:prstGeom>
          <a:noFill/>
          <a:ln/>
        </p:spPr>
        <p:txBody>
          <a:bodyPr wrap="none" lIns="0" tIns="0" rIns="0" bIns="0" rtlCol="0" anchor="t"/>
          <a:lstStyle/>
          <a:p>
            <a:pPr algn="l" indent="0" marL="0">
              <a:lnSpc>
                <a:spcPts val="4450"/>
              </a:lnSpc>
              <a:buNone/>
            </a:pPr>
            <a:r>
              <a:rPr lang="en-US" sz="3550" b="1" dirty="0">
                <a:solidFill>
                  <a:srgbClr val="FFFFFF"/>
                </a:solidFill>
                <a:latin typeface="Inter Bold" pitchFamily="34" charset="0"/>
                <a:ea typeface="Inter Bold" pitchFamily="34" charset="-122"/>
                <a:cs typeface="Inter Bold" pitchFamily="34" charset="-120"/>
              </a:rPr>
              <a:t>PoW Threat Models &amp; Economic Assumptions</a:t>
            </a:r>
            <a:endParaRPr lang="en-US" sz="3550" dirty="0"/>
          </a:p>
        </p:txBody>
      </p:sp>
      <p:sp>
        <p:nvSpPr>
          <p:cNvPr id="3" name="Text 1"/>
          <p:cNvSpPr/>
          <p:nvPr/>
        </p:nvSpPr>
        <p:spPr>
          <a:xfrm>
            <a:off x="793790" y="1645398"/>
            <a:ext cx="13042821"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While robust, PoW networks face specific threat vectors and rely on critical underlying assumptions for their security and stability.</a:t>
            </a:r>
            <a:endParaRPr lang="en-US" sz="1750" dirty="0"/>
          </a:p>
        </p:txBody>
      </p:sp>
      <p:sp>
        <p:nvSpPr>
          <p:cNvPr id="4" name="Text 2"/>
          <p:cNvSpPr/>
          <p:nvPr/>
        </p:nvSpPr>
        <p:spPr>
          <a:xfrm>
            <a:off x="793790" y="2852872"/>
            <a:ext cx="3402330" cy="425187"/>
          </a:xfrm>
          <a:prstGeom prst="rect">
            <a:avLst/>
          </a:prstGeom>
          <a:noFill/>
          <a:ln/>
        </p:spPr>
        <p:txBody>
          <a:bodyPr wrap="none" lIns="0" tIns="0" rIns="0" bIns="0" rtlCol="0" anchor="t"/>
          <a:lstStyle/>
          <a:p>
            <a:pPr algn="l" indent="0" marL="0">
              <a:lnSpc>
                <a:spcPts val="3300"/>
              </a:lnSpc>
              <a:buNone/>
            </a:pPr>
            <a:r>
              <a:rPr lang="en-US" sz="2650" b="1" dirty="0">
                <a:solidFill>
                  <a:srgbClr val="FFFFFF"/>
                </a:solidFill>
                <a:latin typeface="Inter Bold" pitchFamily="34" charset="0"/>
                <a:ea typeface="Inter Bold" pitchFamily="34" charset="-122"/>
                <a:cs typeface="Inter Bold" pitchFamily="34" charset="-120"/>
              </a:rPr>
              <a:t>Key Threat Models</a:t>
            </a:r>
            <a:endParaRPr lang="en-US" sz="2650" dirty="0"/>
          </a:p>
        </p:txBody>
      </p:sp>
      <p:sp>
        <p:nvSpPr>
          <p:cNvPr id="5" name="Text 3"/>
          <p:cNvSpPr/>
          <p:nvPr/>
        </p:nvSpPr>
        <p:spPr>
          <a:xfrm>
            <a:off x="793790" y="3504817"/>
            <a:ext cx="6244709" cy="1451254"/>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51% Attack:</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A malicious entity controlling over 50% of the network's hash rate can selectively exclude or reorder transactions, or reverse their own transactions, leading to double-spends.</a:t>
            </a:r>
            <a:endParaRPr lang="en-US" sz="1750" dirty="0"/>
          </a:p>
        </p:txBody>
      </p:sp>
      <p:sp>
        <p:nvSpPr>
          <p:cNvPr id="6" name="Text 4"/>
          <p:cNvSpPr/>
          <p:nvPr/>
        </p:nvSpPr>
        <p:spPr>
          <a:xfrm>
            <a:off x="793790" y="5035348"/>
            <a:ext cx="6244709" cy="1088441"/>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Selfish Mining:</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Miners withhold newly found blocks to gain a disproportionate share of block rewards, destabilizing network incentives.</a:t>
            </a:r>
            <a:endParaRPr lang="en-US" sz="1750" dirty="0"/>
          </a:p>
        </p:txBody>
      </p:sp>
      <p:sp>
        <p:nvSpPr>
          <p:cNvPr id="7" name="Text 5"/>
          <p:cNvSpPr/>
          <p:nvPr/>
        </p:nvSpPr>
        <p:spPr>
          <a:xfrm>
            <a:off x="793790" y="6203065"/>
            <a:ext cx="6244709" cy="1451254"/>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Block Withholding:</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A miner or pool secretly mines blocks but doesn't broadcast them immediately, similar to selfish mining, aiming to manipulate rewards or create an advantage.</a:t>
            </a:r>
            <a:endParaRPr lang="en-US" sz="1750" dirty="0"/>
          </a:p>
        </p:txBody>
      </p:sp>
      <p:sp>
        <p:nvSpPr>
          <p:cNvPr id="8" name="Text 6"/>
          <p:cNvSpPr/>
          <p:nvPr/>
        </p:nvSpPr>
        <p:spPr>
          <a:xfrm>
            <a:off x="793790" y="7858342"/>
            <a:ext cx="6244709" cy="1088441"/>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The cost of executing a sustained 51% attack on major PoW chains like Bitcoin can run into </a:t>
            </a:r>
            <a:pPr algn="l" indent="0" marL="0">
              <a:lnSpc>
                <a:spcPts val="2850"/>
              </a:lnSpc>
              <a:buNone/>
            </a:pPr>
            <a:r>
              <a:rPr lang="en-US" sz="1750" dirty="0">
                <a:solidFill>
                  <a:srgbClr val="2B0AFF"/>
                </a:solidFill>
                <a:latin typeface="Inter" pitchFamily="34" charset="0"/>
                <a:ea typeface="Inter" pitchFamily="34" charset="-122"/>
                <a:cs typeface="Inter" pitchFamily="34" charset="-120"/>
              </a:rPr>
              <a:t>billions of USD</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due to hardware and energy expenses.</a:t>
            </a:r>
            <a:endParaRPr lang="en-US" sz="1750" dirty="0"/>
          </a:p>
        </p:txBody>
      </p:sp>
      <p:sp>
        <p:nvSpPr>
          <p:cNvPr id="9" name="Text 7"/>
          <p:cNvSpPr/>
          <p:nvPr/>
        </p:nvSpPr>
        <p:spPr>
          <a:xfrm>
            <a:off x="7599521" y="2852872"/>
            <a:ext cx="4117062" cy="425187"/>
          </a:xfrm>
          <a:prstGeom prst="rect">
            <a:avLst/>
          </a:prstGeom>
          <a:noFill/>
          <a:ln/>
        </p:spPr>
        <p:txBody>
          <a:bodyPr wrap="none" lIns="0" tIns="0" rIns="0" bIns="0" rtlCol="0" anchor="t"/>
          <a:lstStyle/>
          <a:p>
            <a:pPr algn="l" indent="0" marL="0">
              <a:lnSpc>
                <a:spcPts val="3300"/>
              </a:lnSpc>
              <a:buNone/>
            </a:pPr>
            <a:r>
              <a:rPr lang="en-US" sz="2650" b="1" dirty="0">
                <a:solidFill>
                  <a:srgbClr val="FFFFFF"/>
                </a:solidFill>
                <a:latin typeface="Inter Bold" pitchFamily="34" charset="0"/>
                <a:ea typeface="Inter Bold" pitchFamily="34" charset="-122"/>
                <a:cs typeface="Inter Bold" pitchFamily="34" charset="-120"/>
              </a:rPr>
              <a:t>Underlying Assumptions</a:t>
            </a:r>
            <a:endParaRPr lang="en-US" sz="2650" dirty="0"/>
          </a:p>
        </p:txBody>
      </p:sp>
      <p:sp>
        <p:nvSpPr>
          <p:cNvPr id="10" name="Text 8"/>
          <p:cNvSpPr/>
          <p:nvPr/>
        </p:nvSpPr>
        <p:spPr>
          <a:xfrm>
            <a:off x="7599521" y="3504817"/>
            <a:ext cx="6244709" cy="181406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Mathematical Assumptions:</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Relies on the premise of </a:t>
            </a:r>
            <a:pPr algn="l" indent="0" marL="0">
              <a:lnSpc>
                <a:spcPts val="2850"/>
              </a:lnSpc>
              <a:buNone/>
            </a:pPr>
            <a:r>
              <a:rPr lang="en-US" sz="1750" b="1" dirty="0">
                <a:solidFill>
                  <a:srgbClr val="E5E0DF"/>
                </a:solidFill>
                <a:latin typeface="Inter" pitchFamily="34" charset="0"/>
                <a:ea typeface="Inter" pitchFamily="34" charset="-122"/>
                <a:cs typeface="Inter" pitchFamily="34" charset="-120"/>
              </a:rPr>
              <a:t>collision-resistant hash functions</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where finding two inputs that produce the same output is computationally infeasible, and the existence of an </a:t>
            </a:r>
            <a:pPr algn="l" indent="0" marL="0">
              <a:lnSpc>
                <a:spcPts val="2850"/>
              </a:lnSpc>
              <a:buNone/>
            </a:pPr>
            <a:r>
              <a:rPr lang="en-US" sz="1750" b="1" dirty="0">
                <a:solidFill>
                  <a:srgbClr val="E5E0DF"/>
                </a:solidFill>
                <a:latin typeface="Inter" pitchFamily="34" charset="0"/>
                <a:ea typeface="Inter" pitchFamily="34" charset="-122"/>
                <a:cs typeface="Inter" pitchFamily="34" charset="-120"/>
              </a:rPr>
              <a:t>honest majority</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of mining power.</a:t>
            </a:r>
            <a:endParaRPr lang="en-US" sz="1750" dirty="0"/>
          </a:p>
        </p:txBody>
      </p:sp>
      <p:sp>
        <p:nvSpPr>
          <p:cNvPr id="11" name="Text 9"/>
          <p:cNvSpPr/>
          <p:nvPr/>
        </p:nvSpPr>
        <p:spPr>
          <a:xfrm>
            <a:off x="7599521" y="5398161"/>
            <a:ext cx="6244709" cy="181406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Economic Assumptions:</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The security of the network is directly proportional to the </a:t>
            </a:r>
            <a:pPr algn="l" indent="0" marL="0">
              <a:lnSpc>
                <a:spcPts val="2850"/>
              </a:lnSpc>
              <a:buNone/>
            </a:pPr>
            <a:r>
              <a:rPr lang="en-US" sz="1750" b="1" dirty="0">
                <a:solidFill>
                  <a:srgbClr val="E5E0DF"/>
                </a:solidFill>
                <a:latin typeface="Inter" pitchFamily="34" charset="0"/>
                <a:ea typeface="Inter" pitchFamily="34" charset="-122"/>
                <a:cs typeface="Inter" pitchFamily="34" charset="-120"/>
              </a:rPr>
              <a:t>energy expenditure</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for mining. Miners are incentivized by </a:t>
            </a:r>
            <a:pPr algn="l" indent="0" marL="0">
              <a:lnSpc>
                <a:spcPts val="2850"/>
              </a:lnSpc>
              <a:buNone/>
            </a:pPr>
            <a:r>
              <a:rPr lang="en-US" sz="1750" b="1" dirty="0">
                <a:solidFill>
                  <a:srgbClr val="E5E0DF"/>
                </a:solidFill>
                <a:latin typeface="Inter" pitchFamily="34" charset="0"/>
                <a:ea typeface="Inter" pitchFamily="34" charset="-122"/>
                <a:cs typeface="Inter" pitchFamily="34" charset="-120"/>
              </a:rPr>
              <a:t>block rewards and transaction fees</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aligning their economic interest with maintaining network integrity.</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5929" y="603142"/>
            <a:ext cx="7262455" cy="546958"/>
          </a:xfrm>
          <a:prstGeom prst="rect">
            <a:avLst/>
          </a:prstGeom>
          <a:noFill/>
          <a:ln/>
        </p:spPr>
        <p:txBody>
          <a:bodyPr wrap="none" lIns="0" tIns="0" rIns="0" bIns="0" rtlCol="0" anchor="t"/>
          <a:lstStyle/>
          <a:p>
            <a:pPr algn="l" indent="0" marL="0">
              <a:lnSpc>
                <a:spcPts val="4300"/>
              </a:lnSpc>
              <a:buNone/>
            </a:pPr>
            <a:r>
              <a:rPr lang="en-US" sz="3400" b="1" dirty="0">
                <a:solidFill>
                  <a:srgbClr val="FFFFFF"/>
                </a:solidFill>
                <a:latin typeface="Inter Bold" pitchFamily="34" charset="0"/>
                <a:ea typeface="Inter Bold" pitchFamily="34" charset="-122"/>
                <a:cs typeface="Inter Bold" pitchFamily="34" charset="-120"/>
              </a:rPr>
              <a:t>Proof-of-Stake (PoS) Architecture</a:t>
            </a:r>
            <a:endParaRPr lang="en-US" sz="3400" dirty="0"/>
          </a:p>
        </p:txBody>
      </p:sp>
      <p:sp>
        <p:nvSpPr>
          <p:cNvPr id="3" name="Text 1"/>
          <p:cNvSpPr/>
          <p:nvPr/>
        </p:nvSpPr>
        <p:spPr>
          <a:xfrm>
            <a:off x="765929" y="1587666"/>
            <a:ext cx="13098542" cy="699916"/>
          </a:xfrm>
          <a:prstGeom prst="rect">
            <a:avLst/>
          </a:prstGeom>
          <a:noFill/>
          <a:ln/>
        </p:spPr>
        <p:txBody>
          <a:bodyPr wrap="square" lIns="0" tIns="0" rIns="0" bIns="0" rtlCol="0" anchor="t"/>
          <a:lstStyle/>
          <a:p>
            <a:pPr algn="l" indent="0" marL="0">
              <a:lnSpc>
                <a:spcPts val="2750"/>
              </a:lnSpc>
              <a:buNone/>
            </a:pPr>
            <a:r>
              <a:rPr lang="en-US" sz="1700" dirty="0">
                <a:solidFill>
                  <a:srgbClr val="E5E0DF"/>
                </a:solidFill>
                <a:latin typeface="Inter" pitchFamily="34" charset="0"/>
                <a:ea typeface="Inter" pitchFamily="34" charset="-122"/>
                <a:cs typeface="Inter" pitchFamily="34" charset="-120"/>
              </a:rPr>
              <a:t>Ethereum's transition to PoS fundamentally altered its consensus mechanism, replacing energy-intensive mining with economic stake as the primary security guarantor. Validators are randomly selected to propose and attest to blocks.</a:t>
            </a:r>
            <a:endParaRPr lang="en-US" sz="1700" dirty="0"/>
          </a:p>
        </p:txBody>
      </p:sp>
      <p:sp>
        <p:nvSpPr>
          <p:cNvPr id="4" name="Text 2"/>
          <p:cNvSpPr/>
          <p:nvPr/>
        </p:nvSpPr>
        <p:spPr>
          <a:xfrm>
            <a:off x="2287310" y="2708722"/>
            <a:ext cx="2735699" cy="341864"/>
          </a:xfrm>
          <a:prstGeom prst="rect">
            <a:avLst/>
          </a:prstGeom>
          <a:noFill/>
          <a:ln/>
        </p:spPr>
        <p:txBody>
          <a:bodyPr wrap="none" lIns="0" tIns="0" rIns="0" bIns="0" rtlCol="0" anchor="t"/>
          <a:lstStyle/>
          <a:p>
            <a:pPr algn="r" indent="0" marL="0">
              <a:lnSpc>
                <a:spcPts val="2650"/>
              </a:lnSpc>
              <a:buNone/>
            </a:pPr>
            <a:r>
              <a:rPr lang="en-US" sz="2150" b="1" dirty="0">
                <a:solidFill>
                  <a:srgbClr val="E5E0DF"/>
                </a:solidFill>
                <a:latin typeface="Inter Bold" pitchFamily="34" charset="0"/>
                <a:ea typeface="Inter Bold" pitchFamily="34" charset="-122"/>
                <a:cs typeface="Inter Bold" pitchFamily="34" charset="-120"/>
              </a:rPr>
              <a:t>Staking</a:t>
            </a:r>
            <a:endParaRPr lang="en-US" sz="2150" dirty="0"/>
          </a:p>
        </p:txBody>
      </p:sp>
      <p:sp>
        <p:nvSpPr>
          <p:cNvPr id="5" name="Text 3"/>
          <p:cNvSpPr/>
          <p:nvPr/>
        </p:nvSpPr>
        <p:spPr>
          <a:xfrm>
            <a:off x="765929" y="3181761"/>
            <a:ext cx="4257080" cy="1399832"/>
          </a:xfrm>
          <a:prstGeom prst="rect">
            <a:avLst/>
          </a:prstGeom>
          <a:noFill/>
          <a:ln/>
        </p:spPr>
        <p:txBody>
          <a:bodyPr wrap="square" lIns="0" tIns="0" rIns="0" bIns="0" rtlCol="0" anchor="t"/>
          <a:lstStyle/>
          <a:p>
            <a:pPr algn="r" indent="0" marL="0">
              <a:lnSpc>
                <a:spcPts val="2750"/>
              </a:lnSpc>
              <a:buNone/>
            </a:pPr>
            <a:r>
              <a:rPr lang="en-US" sz="1700" dirty="0">
                <a:solidFill>
                  <a:srgbClr val="E5E0DF"/>
                </a:solidFill>
                <a:latin typeface="Inter" pitchFamily="34" charset="0"/>
                <a:ea typeface="Inter" pitchFamily="34" charset="-122"/>
                <a:cs typeface="Inter" pitchFamily="34" charset="-120"/>
              </a:rPr>
              <a:t>Validators commit 32 ETH, aligning their economic interests with network health and security. This stake acts as a collateral against malicious behavior.</a:t>
            </a:r>
            <a:endParaRPr lang="en-US" sz="1700" dirty="0"/>
          </a:p>
        </p:txBody>
      </p:sp>
      <p:pic>
        <p:nvPicPr>
          <p:cNvPr id="6" name="Image 0" descr="preencoded.png">    </p:cNvPr>
          <p:cNvPicPr>
            <a:picLocks noChangeAspect="1"/>
          </p:cNvPicPr>
          <p:nvPr/>
        </p:nvPicPr>
        <p:blipFill>
          <a:blip r:embed="rId1"/>
          <a:stretch>
            <a:fillRect/>
          </a:stretch>
        </p:blipFill>
        <p:spPr>
          <a:xfrm>
            <a:off x="5023009" y="3503865"/>
            <a:ext cx="4584383" cy="4583259"/>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26565" y="4807101"/>
            <a:ext cx="307777" cy="307701"/>
          </a:xfrm>
          <a:prstGeom prst="rect">
            <a:avLst/>
          </a:prstGeom>
        </p:spPr>
      </p:pic>
      <p:sp>
        <p:nvSpPr>
          <p:cNvPr id="8" name="Text 4"/>
          <p:cNvSpPr/>
          <p:nvPr/>
        </p:nvSpPr>
        <p:spPr>
          <a:xfrm>
            <a:off x="9607391" y="2533743"/>
            <a:ext cx="2735699" cy="341864"/>
          </a:xfrm>
          <a:prstGeom prst="rect">
            <a:avLst/>
          </a:prstGeom>
          <a:noFill/>
          <a:ln/>
        </p:spPr>
        <p:txBody>
          <a:bodyPr wrap="none" lIns="0" tIns="0" rIns="0" bIns="0" rtlCol="0" anchor="t"/>
          <a:lstStyle/>
          <a:p>
            <a:pPr algn="l" indent="0" marL="0">
              <a:lnSpc>
                <a:spcPts val="2650"/>
              </a:lnSpc>
              <a:buNone/>
            </a:pPr>
            <a:r>
              <a:rPr lang="en-US" sz="2150" b="1" dirty="0">
                <a:solidFill>
                  <a:srgbClr val="E5E0DF"/>
                </a:solidFill>
                <a:latin typeface="Inter Bold" pitchFamily="34" charset="0"/>
                <a:ea typeface="Inter Bold" pitchFamily="34" charset="-122"/>
                <a:cs typeface="Inter Bold" pitchFamily="34" charset="-120"/>
              </a:rPr>
              <a:t>Random Selection</a:t>
            </a:r>
            <a:endParaRPr lang="en-US" sz="2150" dirty="0"/>
          </a:p>
        </p:txBody>
      </p:sp>
      <p:sp>
        <p:nvSpPr>
          <p:cNvPr id="9" name="Text 5"/>
          <p:cNvSpPr/>
          <p:nvPr/>
        </p:nvSpPr>
        <p:spPr>
          <a:xfrm>
            <a:off x="9607391" y="3006782"/>
            <a:ext cx="4257080" cy="1749790"/>
          </a:xfrm>
          <a:prstGeom prst="rect">
            <a:avLst/>
          </a:prstGeom>
          <a:noFill/>
          <a:ln/>
        </p:spPr>
        <p:txBody>
          <a:bodyPr wrap="square" lIns="0" tIns="0" rIns="0" bIns="0" rtlCol="0" anchor="t"/>
          <a:lstStyle/>
          <a:p>
            <a:pPr algn="l" indent="0" marL="0">
              <a:lnSpc>
                <a:spcPts val="2750"/>
              </a:lnSpc>
              <a:buNone/>
            </a:pPr>
            <a:r>
              <a:rPr lang="en-US" sz="1700" dirty="0">
                <a:solidFill>
                  <a:srgbClr val="E5E0DF"/>
                </a:solidFill>
                <a:latin typeface="Inter" pitchFamily="34" charset="0"/>
                <a:ea typeface="Inter" pitchFamily="34" charset="-122"/>
                <a:cs typeface="Inter" pitchFamily="34" charset="-120"/>
              </a:rPr>
              <a:t>Validators are pseudo-randomly selected to propose new blocks and attest to existing ones within fixed 12-second "slots." This random selection prevents centralization and predictability.</a:t>
            </a:r>
            <a:endParaRPr lang="en-US" sz="1700" dirty="0"/>
          </a:p>
        </p:txBody>
      </p:sp>
      <p:pic>
        <p:nvPicPr>
          <p:cNvPr id="10" name="Image 2" descr="preencoded.png">    </p:cNvPr>
          <p:cNvPicPr>
            <a:picLocks noChangeAspect="1"/>
          </p:cNvPicPr>
          <p:nvPr/>
        </p:nvPicPr>
        <p:blipFill>
          <a:blip r:embed="rId4"/>
          <a:stretch>
            <a:fillRect/>
          </a:stretch>
        </p:blipFill>
        <p:spPr>
          <a:xfrm>
            <a:off x="5023009" y="3503865"/>
            <a:ext cx="4584383" cy="4583259"/>
          </a:xfrm>
          <a:prstGeom prst="rect">
            <a:avLst/>
          </a:prstGeom>
        </p:spPr>
      </p:pic>
      <p:pic>
        <p:nvPicPr>
          <p:cNvPr id="11"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95940" y="4807101"/>
            <a:ext cx="307777" cy="307701"/>
          </a:xfrm>
          <a:prstGeom prst="rect">
            <a:avLst/>
          </a:prstGeom>
        </p:spPr>
      </p:pic>
      <p:sp>
        <p:nvSpPr>
          <p:cNvPr id="12" name="Text 6"/>
          <p:cNvSpPr/>
          <p:nvPr/>
        </p:nvSpPr>
        <p:spPr>
          <a:xfrm>
            <a:off x="9607391" y="5959641"/>
            <a:ext cx="2735699" cy="341864"/>
          </a:xfrm>
          <a:prstGeom prst="rect">
            <a:avLst/>
          </a:prstGeom>
          <a:noFill/>
          <a:ln/>
        </p:spPr>
        <p:txBody>
          <a:bodyPr wrap="none" lIns="0" tIns="0" rIns="0" bIns="0" rtlCol="0" anchor="t"/>
          <a:lstStyle/>
          <a:p>
            <a:pPr algn="l" indent="0" marL="0">
              <a:lnSpc>
                <a:spcPts val="2650"/>
              </a:lnSpc>
              <a:buNone/>
            </a:pPr>
            <a:r>
              <a:rPr lang="en-US" sz="2150" b="1" dirty="0">
                <a:solidFill>
                  <a:srgbClr val="E5E0DF"/>
                </a:solidFill>
                <a:latin typeface="Inter Bold" pitchFamily="34" charset="0"/>
                <a:ea typeface="Inter Bold" pitchFamily="34" charset="-122"/>
                <a:cs typeface="Inter Bold" pitchFamily="34" charset="-120"/>
              </a:rPr>
              <a:t>Attestations</a:t>
            </a:r>
            <a:endParaRPr lang="en-US" sz="2150" dirty="0"/>
          </a:p>
        </p:txBody>
      </p:sp>
      <p:sp>
        <p:nvSpPr>
          <p:cNvPr id="13" name="Text 7"/>
          <p:cNvSpPr/>
          <p:nvPr/>
        </p:nvSpPr>
        <p:spPr>
          <a:xfrm>
            <a:off x="9607391" y="6432680"/>
            <a:ext cx="4257080" cy="1749790"/>
          </a:xfrm>
          <a:prstGeom prst="rect">
            <a:avLst/>
          </a:prstGeom>
          <a:noFill/>
          <a:ln/>
        </p:spPr>
        <p:txBody>
          <a:bodyPr wrap="square" lIns="0" tIns="0" rIns="0" bIns="0" rtlCol="0" anchor="t"/>
          <a:lstStyle/>
          <a:p>
            <a:pPr algn="l" indent="0" marL="0">
              <a:lnSpc>
                <a:spcPts val="2750"/>
              </a:lnSpc>
              <a:buNone/>
            </a:pPr>
            <a:r>
              <a:rPr lang="en-US" sz="1700" dirty="0">
                <a:solidFill>
                  <a:srgbClr val="E5E0DF"/>
                </a:solidFill>
                <a:latin typeface="Inter" pitchFamily="34" charset="0"/>
                <a:ea typeface="Inter" pitchFamily="34" charset="-122"/>
                <a:cs typeface="Inter" pitchFamily="34" charset="-120"/>
              </a:rPr>
              <a:t>Other validators attest to the validity of proposed blocks. A block requires a supermajority (2/3) of attestations to become "justified" and eventually "finalized."</a:t>
            </a:r>
            <a:endParaRPr lang="en-US" sz="1700" dirty="0"/>
          </a:p>
        </p:txBody>
      </p:sp>
      <p:pic>
        <p:nvPicPr>
          <p:cNvPr id="14" name="Image 4" descr="preencoded.png">    </p:cNvPr>
          <p:cNvPicPr>
            <a:picLocks noChangeAspect="1"/>
          </p:cNvPicPr>
          <p:nvPr/>
        </p:nvPicPr>
        <p:blipFill>
          <a:blip r:embed="rId7"/>
          <a:stretch>
            <a:fillRect/>
          </a:stretch>
        </p:blipFill>
        <p:spPr>
          <a:xfrm>
            <a:off x="5023009" y="3503865"/>
            <a:ext cx="4584383" cy="4583259"/>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95940" y="6476068"/>
            <a:ext cx="307777" cy="307701"/>
          </a:xfrm>
          <a:prstGeom prst="rect">
            <a:avLst/>
          </a:prstGeom>
        </p:spPr>
      </p:pic>
      <p:sp>
        <p:nvSpPr>
          <p:cNvPr id="16" name="Text 8"/>
          <p:cNvSpPr/>
          <p:nvPr/>
        </p:nvSpPr>
        <p:spPr>
          <a:xfrm>
            <a:off x="1442918" y="5084747"/>
            <a:ext cx="3580090" cy="341864"/>
          </a:xfrm>
          <a:prstGeom prst="rect">
            <a:avLst/>
          </a:prstGeom>
          <a:noFill/>
          <a:ln/>
        </p:spPr>
        <p:txBody>
          <a:bodyPr wrap="none" lIns="0" tIns="0" rIns="0" bIns="0" rtlCol="0" anchor="t"/>
          <a:lstStyle/>
          <a:p>
            <a:pPr algn="r" indent="0" marL="0">
              <a:lnSpc>
                <a:spcPts val="2650"/>
              </a:lnSpc>
              <a:buNone/>
            </a:pPr>
            <a:r>
              <a:rPr lang="en-US" sz="2150" b="1" dirty="0">
                <a:solidFill>
                  <a:srgbClr val="E5E0DF"/>
                </a:solidFill>
                <a:latin typeface="Inter Bold" pitchFamily="34" charset="0"/>
                <a:ea typeface="Inter Bold" pitchFamily="34" charset="-122"/>
                <a:cs typeface="Inter Bold" pitchFamily="34" charset="-120"/>
              </a:rPr>
              <a:t>Casper FFG &amp; LMD-GHOST</a:t>
            </a:r>
            <a:endParaRPr lang="en-US" sz="2150" dirty="0"/>
          </a:p>
        </p:txBody>
      </p:sp>
      <p:sp>
        <p:nvSpPr>
          <p:cNvPr id="17" name="Text 9"/>
          <p:cNvSpPr/>
          <p:nvPr/>
        </p:nvSpPr>
        <p:spPr>
          <a:xfrm>
            <a:off x="765929" y="5557785"/>
            <a:ext cx="4257080" cy="3499580"/>
          </a:xfrm>
          <a:prstGeom prst="rect">
            <a:avLst/>
          </a:prstGeom>
          <a:noFill/>
          <a:ln/>
        </p:spPr>
        <p:txBody>
          <a:bodyPr wrap="square" lIns="0" tIns="0" rIns="0" bIns="0" rtlCol="0" anchor="t"/>
          <a:lstStyle/>
          <a:p>
            <a:pPr algn="r" indent="0" marL="0">
              <a:lnSpc>
                <a:spcPts val="2750"/>
              </a:lnSpc>
              <a:buNone/>
            </a:pPr>
            <a:r>
              <a:rPr lang="en-US" sz="1700" dirty="0">
                <a:solidFill>
                  <a:srgbClr val="E5E0DF"/>
                </a:solidFill>
                <a:latin typeface="Inter" pitchFamily="34" charset="0"/>
                <a:ea typeface="Inter" pitchFamily="34" charset="-122"/>
                <a:cs typeface="Inter" pitchFamily="34" charset="-120"/>
              </a:rPr>
              <a:t>Ethereum PoS combines two algorithms: </a:t>
            </a:r>
            <a:pPr algn="r" indent="0" marL="0">
              <a:lnSpc>
                <a:spcPts val="2750"/>
              </a:lnSpc>
              <a:buNone/>
            </a:pPr>
            <a:r>
              <a:rPr lang="en-US" sz="1700" b="1" dirty="0">
                <a:solidFill>
                  <a:srgbClr val="E5E0DF"/>
                </a:solidFill>
                <a:latin typeface="Inter" pitchFamily="34" charset="0"/>
                <a:ea typeface="Inter" pitchFamily="34" charset="-122"/>
                <a:cs typeface="Inter" pitchFamily="34" charset="-120"/>
              </a:rPr>
              <a:t>Casper FFG</a:t>
            </a:r>
            <a:pPr algn="r" indent="0" marL="0">
              <a:lnSpc>
                <a:spcPts val="2750"/>
              </a:lnSpc>
              <a:buNone/>
            </a:pPr>
            <a:r>
              <a:rPr lang="en-US" sz="1700" dirty="0">
                <a:solidFill>
                  <a:srgbClr val="E5E0DF"/>
                </a:solidFill>
                <a:latin typeface="Inter" pitchFamily="34" charset="0"/>
                <a:ea typeface="Inter" pitchFamily="34" charset="-122"/>
                <a:cs typeface="Inter" pitchFamily="34" charset="-120"/>
              </a:rPr>
              <a:t> (Friendly Finality Gadget) provides economic finality, ensuring that once a checkpoint is finalized, reverting it becomes economically prohibitive. </a:t>
            </a:r>
            <a:pPr algn="r" indent="0" marL="0">
              <a:lnSpc>
                <a:spcPts val="2750"/>
              </a:lnSpc>
              <a:buNone/>
            </a:pPr>
            <a:r>
              <a:rPr lang="en-US" sz="1700" b="1" dirty="0">
                <a:solidFill>
                  <a:srgbClr val="E5E0DF"/>
                </a:solidFill>
                <a:latin typeface="Inter" pitchFamily="34" charset="0"/>
                <a:ea typeface="Inter" pitchFamily="34" charset="-122"/>
                <a:cs typeface="Inter" pitchFamily="34" charset="-120"/>
              </a:rPr>
              <a:t>LMD-GHOST</a:t>
            </a:r>
            <a:pPr algn="r" indent="0" marL="0">
              <a:lnSpc>
                <a:spcPts val="2750"/>
              </a:lnSpc>
              <a:buNone/>
            </a:pPr>
            <a:r>
              <a:rPr lang="en-US" sz="1700" dirty="0">
                <a:solidFill>
                  <a:srgbClr val="E5E0DF"/>
                </a:solidFill>
                <a:latin typeface="Inter" pitchFamily="34" charset="0"/>
                <a:ea typeface="Inter" pitchFamily="34" charset="-122"/>
                <a:cs typeface="Inter" pitchFamily="34" charset="-120"/>
              </a:rPr>
              <a:t> (Latest Message-Driven Greedy Heaviest Observed Subtree) is the fork-choice rule that helps nodes converge on the correct chain in the presence of forks.</a:t>
            </a:r>
            <a:endParaRPr lang="en-US" sz="1700" dirty="0"/>
          </a:p>
        </p:txBody>
      </p:sp>
      <p:pic>
        <p:nvPicPr>
          <p:cNvPr id="18" name="Image 6" descr="preencoded.png">    </p:cNvPr>
          <p:cNvPicPr>
            <a:picLocks noChangeAspect="1"/>
          </p:cNvPicPr>
          <p:nvPr/>
        </p:nvPicPr>
        <p:blipFill>
          <a:blip r:embed="rId10"/>
          <a:stretch>
            <a:fillRect/>
          </a:stretch>
        </p:blipFill>
        <p:spPr>
          <a:xfrm>
            <a:off x="5023009" y="3503865"/>
            <a:ext cx="4584383" cy="4583259"/>
          </a:xfrm>
          <a:prstGeom prst="rect">
            <a:avLst/>
          </a:prstGeom>
        </p:spPr>
      </p:pic>
      <p:pic>
        <p:nvPicPr>
          <p:cNvPr id="19"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26565" y="6476068"/>
            <a:ext cx="307777" cy="307701"/>
          </a:xfrm>
          <a:prstGeom prst="rect">
            <a:avLst/>
          </a:prstGeom>
        </p:spPr>
      </p:pic>
      <p:sp>
        <p:nvSpPr>
          <p:cNvPr id="20" name="Text 10"/>
          <p:cNvSpPr/>
          <p:nvPr/>
        </p:nvSpPr>
        <p:spPr>
          <a:xfrm>
            <a:off x="765929" y="9303526"/>
            <a:ext cx="13098542" cy="699916"/>
          </a:xfrm>
          <a:prstGeom prst="rect">
            <a:avLst/>
          </a:prstGeom>
          <a:noFill/>
          <a:ln/>
        </p:spPr>
        <p:txBody>
          <a:bodyPr wrap="square" lIns="0" tIns="0" rIns="0" bIns="0" rtlCol="0" anchor="t"/>
          <a:lstStyle/>
          <a:p>
            <a:pPr algn="l" indent="0" marL="0">
              <a:lnSpc>
                <a:spcPts val="2750"/>
              </a:lnSpc>
              <a:buNone/>
            </a:pPr>
            <a:r>
              <a:rPr lang="en-US" sz="1700" dirty="0">
                <a:solidFill>
                  <a:srgbClr val="E5E0DF"/>
                </a:solidFill>
                <a:latin typeface="Inter" pitchFamily="34" charset="0"/>
                <a:ea typeface="Inter" pitchFamily="34" charset="-122"/>
                <a:cs typeface="Inter" pitchFamily="34" charset="-120"/>
              </a:rPr>
              <a:t>Finality in PoS is achieved after approximately 12-13 minutes, significantly faster and more deterministic than probabilistic finality in PoW.</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25044"/>
            <a:ext cx="6929318" cy="566837"/>
          </a:xfrm>
          <a:prstGeom prst="rect">
            <a:avLst/>
          </a:prstGeom>
          <a:noFill/>
          <a:ln/>
        </p:spPr>
        <p:txBody>
          <a:bodyPr wrap="none" lIns="0" tIns="0" rIns="0" bIns="0" rtlCol="0" anchor="t"/>
          <a:lstStyle/>
          <a:p>
            <a:pPr algn="l" indent="0" marL="0">
              <a:lnSpc>
                <a:spcPts val="4450"/>
              </a:lnSpc>
              <a:buNone/>
            </a:pPr>
            <a:r>
              <a:rPr lang="en-US" sz="3550" b="1" dirty="0">
                <a:solidFill>
                  <a:srgbClr val="FFFFFF"/>
                </a:solidFill>
                <a:latin typeface="Inter Bold" pitchFamily="34" charset="0"/>
                <a:ea typeface="Inter Bold" pitchFamily="34" charset="-122"/>
                <a:cs typeface="Inter Bold" pitchFamily="34" charset="-120"/>
              </a:rPr>
              <a:t>PoS Threat Models &amp; Mitigation</a:t>
            </a:r>
            <a:endParaRPr lang="en-US" sz="3550" dirty="0"/>
          </a:p>
        </p:txBody>
      </p:sp>
      <p:sp>
        <p:nvSpPr>
          <p:cNvPr id="3" name="Text 1"/>
          <p:cNvSpPr/>
          <p:nvPr/>
        </p:nvSpPr>
        <p:spPr>
          <a:xfrm>
            <a:off x="793790" y="1645398"/>
            <a:ext cx="13042821"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While addressing PoW's energy concerns, PoS introduces its own unique set of vulnerabilities, which are primarily mitigated through robust protocol designs and economic penalties (slashing).</a:t>
            </a:r>
            <a:endParaRPr lang="en-US" sz="1750" dirty="0"/>
          </a:p>
        </p:txBody>
      </p:sp>
      <p:sp>
        <p:nvSpPr>
          <p:cNvPr id="4" name="Text 2"/>
          <p:cNvSpPr/>
          <p:nvPr/>
        </p:nvSpPr>
        <p:spPr>
          <a:xfrm>
            <a:off x="793790" y="2852872"/>
            <a:ext cx="3402330" cy="425187"/>
          </a:xfrm>
          <a:prstGeom prst="rect">
            <a:avLst/>
          </a:prstGeom>
          <a:noFill/>
          <a:ln/>
        </p:spPr>
        <p:txBody>
          <a:bodyPr wrap="none" lIns="0" tIns="0" rIns="0" bIns="0" rtlCol="0" anchor="t"/>
          <a:lstStyle/>
          <a:p>
            <a:pPr algn="l" indent="0" marL="0">
              <a:lnSpc>
                <a:spcPts val="3300"/>
              </a:lnSpc>
              <a:buNone/>
            </a:pPr>
            <a:r>
              <a:rPr lang="en-US" sz="2650" b="1" dirty="0">
                <a:solidFill>
                  <a:srgbClr val="FFFFFF"/>
                </a:solidFill>
                <a:latin typeface="Inter Bold" pitchFamily="34" charset="0"/>
                <a:ea typeface="Inter Bold" pitchFamily="34" charset="-122"/>
                <a:cs typeface="Inter Bold" pitchFamily="34" charset="-120"/>
              </a:rPr>
              <a:t>Key Threat Models</a:t>
            </a:r>
            <a:endParaRPr lang="en-US" sz="2650" dirty="0"/>
          </a:p>
        </p:txBody>
      </p:sp>
      <p:sp>
        <p:nvSpPr>
          <p:cNvPr id="5" name="Text 3"/>
          <p:cNvSpPr/>
          <p:nvPr/>
        </p:nvSpPr>
        <p:spPr>
          <a:xfrm>
            <a:off x="793790" y="3504817"/>
            <a:ext cx="6244709" cy="1088441"/>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Long-Range Attack:</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An attacker creates a private chain from an early state, potentially rewriting history. Mitigation involves checkpoints and social consensus.</a:t>
            </a:r>
            <a:endParaRPr lang="en-US" sz="1750" dirty="0"/>
          </a:p>
        </p:txBody>
      </p:sp>
      <p:sp>
        <p:nvSpPr>
          <p:cNvPr id="6" name="Text 4"/>
          <p:cNvSpPr/>
          <p:nvPr/>
        </p:nvSpPr>
        <p:spPr>
          <a:xfrm>
            <a:off x="793790" y="4672534"/>
            <a:ext cx="6244709" cy="1451254"/>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Nothing-at-Stake (NaS):</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In a fork, validators have no disincentive to attest to multiple chains, potentially preventing consensus. </a:t>
            </a:r>
            <a:pPr algn="l" indent="0" marL="0">
              <a:lnSpc>
                <a:spcPts val="2850"/>
              </a:lnSpc>
              <a:buNone/>
            </a:pPr>
            <a:r>
              <a:rPr lang="en-US" sz="1750" b="1" dirty="0">
                <a:solidFill>
                  <a:srgbClr val="E5E0DF"/>
                </a:solidFill>
                <a:latin typeface="Inter" pitchFamily="34" charset="0"/>
                <a:ea typeface="Inter" pitchFamily="34" charset="-122"/>
                <a:cs typeface="Inter" pitchFamily="34" charset="-120"/>
              </a:rPr>
              <a:t>Slashing</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is the primary defense, penalizing validators for equivocation.</a:t>
            </a:r>
            <a:endParaRPr lang="en-US" sz="1750" dirty="0"/>
          </a:p>
        </p:txBody>
      </p:sp>
      <p:sp>
        <p:nvSpPr>
          <p:cNvPr id="7" name="Text 5"/>
          <p:cNvSpPr/>
          <p:nvPr/>
        </p:nvSpPr>
        <p:spPr>
          <a:xfrm>
            <a:off x="793790" y="6203065"/>
            <a:ext cx="6244709" cy="181406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Stake Grinding:</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An attacker attempts to influence the random validator selection process to gain an advantage. This is mitigated by sophisticated randomness beacons like RANDAO and by incorporating stake weight into selection algorithms.</a:t>
            </a:r>
            <a:endParaRPr lang="en-US" sz="1750" dirty="0"/>
          </a:p>
        </p:txBody>
      </p:sp>
      <p:sp>
        <p:nvSpPr>
          <p:cNvPr id="8" name="Text 6"/>
          <p:cNvSpPr/>
          <p:nvPr/>
        </p:nvSpPr>
        <p:spPr>
          <a:xfrm>
            <a:off x="7599521" y="2852872"/>
            <a:ext cx="3458766" cy="425187"/>
          </a:xfrm>
          <a:prstGeom prst="rect">
            <a:avLst/>
          </a:prstGeom>
          <a:noFill/>
          <a:ln/>
        </p:spPr>
        <p:txBody>
          <a:bodyPr wrap="none" lIns="0" tIns="0" rIns="0" bIns="0" rtlCol="0" anchor="t"/>
          <a:lstStyle/>
          <a:p>
            <a:pPr algn="l" indent="0" marL="0">
              <a:lnSpc>
                <a:spcPts val="3300"/>
              </a:lnSpc>
              <a:buNone/>
            </a:pPr>
            <a:r>
              <a:rPr lang="en-US" sz="2650" b="1" dirty="0">
                <a:solidFill>
                  <a:srgbClr val="FFFFFF"/>
                </a:solidFill>
                <a:latin typeface="Inter Bold" pitchFamily="34" charset="0"/>
                <a:ea typeface="Inter Bold" pitchFamily="34" charset="-122"/>
                <a:cs typeface="Inter Bold" pitchFamily="34" charset="-120"/>
              </a:rPr>
              <a:t>Mitigation Strategies</a:t>
            </a:r>
            <a:endParaRPr lang="en-US" sz="2650" dirty="0"/>
          </a:p>
        </p:txBody>
      </p:sp>
      <p:sp>
        <p:nvSpPr>
          <p:cNvPr id="9" name="Text 7"/>
          <p:cNvSpPr/>
          <p:nvPr/>
        </p:nvSpPr>
        <p:spPr>
          <a:xfrm>
            <a:off x="7599521" y="3504817"/>
            <a:ext cx="6244709" cy="1451254"/>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Slashing:</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Malicious or inactive validators face the forfeiture of a portion or all of their staked ETH, providing a strong economic deterrent against attacks like NaS and equivocation.</a:t>
            </a:r>
            <a:endParaRPr lang="en-US" sz="1750" dirty="0"/>
          </a:p>
        </p:txBody>
      </p:sp>
      <p:sp>
        <p:nvSpPr>
          <p:cNvPr id="10" name="Text 8"/>
          <p:cNvSpPr/>
          <p:nvPr/>
        </p:nvSpPr>
        <p:spPr>
          <a:xfrm>
            <a:off x="7599521" y="5035348"/>
            <a:ext cx="6244709" cy="1451254"/>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Checkpoints:</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Regular, economically finalized checkpoints prevent long-range attacks by making it prohibitively expensive to rewrite history beyond a certain point.</a:t>
            </a:r>
            <a:endParaRPr lang="en-US" sz="1750" dirty="0"/>
          </a:p>
        </p:txBody>
      </p:sp>
      <p:sp>
        <p:nvSpPr>
          <p:cNvPr id="11" name="Text 9"/>
          <p:cNvSpPr/>
          <p:nvPr/>
        </p:nvSpPr>
        <p:spPr>
          <a:xfrm>
            <a:off x="7599521" y="6565878"/>
            <a:ext cx="6244709" cy="1451254"/>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Strong Randomness:</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Protocols like RANDAO, combined with stake weighting, ensure unpredictability in validator selection, countering stake grinding attacks effectively.</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25044"/>
            <a:ext cx="11009352" cy="566837"/>
          </a:xfrm>
          <a:prstGeom prst="rect">
            <a:avLst/>
          </a:prstGeom>
          <a:noFill/>
          <a:ln/>
        </p:spPr>
        <p:txBody>
          <a:bodyPr wrap="none" lIns="0" tIns="0" rIns="0" bIns="0" rtlCol="0" anchor="t"/>
          <a:lstStyle/>
          <a:p>
            <a:pPr algn="l" indent="0" marL="0">
              <a:lnSpc>
                <a:spcPts val="4450"/>
              </a:lnSpc>
              <a:buNone/>
            </a:pPr>
            <a:r>
              <a:rPr lang="en-US" sz="3550" b="1" dirty="0">
                <a:solidFill>
                  <a:srgbClr val="FFFFFF"/>
                </a:solidFill>
                <a:latin typeface="Inter Bold" pitchFamily="34" charset="0"/>
                <a:ea typeface="Inter Bold" pitchFamily="34" charset="-122"/>
                <a:cs typeface="Inter Bold" pitchFamily="34" charset="-120"/>
              </a:rPr>
              <a:t>Consensus Mechanism Comparison: PoW vs. PoS</a:t>
            </a:r>
            <a:endParaRPr lang="en-US" sz="3550" dirty="0"/>
          </a:p>
        </p:txBody>
      </p:sp>
      <p:sp>
        <p:nvSpPr>
          <p:cNvPr id="3" name="Text 1"/>
          <p:cNvSpPr/>
          <p:nvPr/>
        </p:nvSpPr>
        <p:spPr>
          <a:xfrm>
            <a:off x="793790" y="1645398"/>
            <a:ext cx="13042821"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A direct comparison highlighting the fundamental differences in security, finality, decentralization, and economic incentives between Proof-of-Work and Proof-of-Stake.</a:t>
            </a:r>
            <a:endParaRPr lang="en-US" sz="1750" dirty="0"/>
          </a:p>
        </p:txBody>
      </p:sp>
      <p:sp>
        <p:nvSpPr>
          <p:cNvPr id="4" name="Shape 2"/>
          <p:cNvSpPr/>
          <p:nvPr/>
        </p:nvSpPr>
        <p:spPr>
          <a:xfrm>
            <a:off x="793790" y="2626113"/>
            <a:ext cx="13042821" cy="7256986"/>
          </a:xfrm>
          <a:prstGeom prst="roundRect">
            <a:avLst>
              <a:gd name="adj" fmla="val 1313"/>
            </a:avLst>
          </a:prstGeom>
          <a:noFill/>
          <a:ln w="7620">
            <a:solidFill>
              <a:srgbClr val="FFFFFF">
                <a:alpha val="24000"/>
              </a:srgbClr>
            </a:solidFill>
            <a:prstDash val="solid"/>
          </a:ln>
        </p:spPr>
      </p:sp>
      <p:sp>
        <p:nvSpPr>
          <p:cNvPr id="5" name="Shape 3"/>
          <p:cNvSpPr/>
          <p:nvPr/>
        </p:nvSpPr>
        <p:spPr>
          <a:xfrm>
            <a:off x="801410" y="2633731"/>
            <a:ext cx="13027581" cy="1738601"/>
          </a:xfrm>
          <a:prstGeom prst="rect">
            <a:avLst/>
          </a:prstGeom>
          <a:solidFill>
            <a:srgbClr val="FFFFFF">
              <a:alpha val="4000"/>
            </a:srgbClr>
          </a:solidFill>
          <a:ln/>
        </p:spPr>
      </p:sp>
      <p:sp>
        <p:nvSpPr>
          <p:cNvPr id="6" name="Text 4"/>
          <p:cNvSpPr/>
          <p:nvPr/>
        </p:nvSpPr>
        <p:spPr>
          <a:xfrm>
            <a:off x="1028343" y="2777405"/>
            <a:ext cx="2148007" cy="362814"/>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Security</a:t>
            </a:r>
            <a:endParaRPr lang="en-US" sz="1750" dirty="0"/>
          </a:p>
        </p:txBody>
      </p:sp>
      <p:sp>
        <p:nvSpPr>
          <p:cNvPr id="7" name="Text 5"/>
          <p:cNvSpPr/>
          <p:nvPr/>
        </p:nvSpPr>
        <p:spPr>
          <a:xfrm>
            <a:off x="3637598" y="2777405"/>
            <a:ext cx="4749760" cy="1088441"/>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Computational security via hash power. Extremely high economic barrier for 51% attack. Strongest censorship resistance.</a:t>
            </a:r>
            <a:endParaRPr lang="en-US" sz="1750" dirty="0"/>
          </a:p>
        </p:txBody>
      </p:sp>
      <p:sp>
        <p:nvSpPr>
          <p:cNvPr id="8" name="Text 6"/>
          <p:cNvSpPr/>
          <p:nvPr/>
        </p:nvSpPr>
        <p:spPr>
          <a:xfrm>
            <a:off x="8848606" y="2777405"/>
            <a:ext cx="4753570" cy="1451254"/>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Economic security via staked ETH, subject to slashing. High economic barrier for 33-51% stake attack. Improved resilience against certain attack types.</a:t>
            </a:r>
            <a:endParaRPr lang="en-US" sz="1750" dirty="0"/>
          </a:p>
        </p:txBody>
      </p:sp>
      <p:sp>
        <p:nvSpPr>
          <p:cNvPr id="9" name="Shape 7"/>
          <p:cNvSpPr/>
          <p:nvPr/>
        </p:nvSpPr>
        <p:spPr>
          <a:xfrm>
            <a:off x="801410" y="4372332"/>
            <a:ext cx="13027581" cy="1738601"/>
          </a:xfrm>
          <a:prstGeom prst="rect">
            <a:avLst/>
          </a:prstGeom>
          <a:solidFill>
            <a:srgbClr val="000000">
              <a:alpha val="4000"/>
            </a:srgbClr>
          </a:solidFill>
          <a:ln/>
        </p:spPr>
      </p:sp>
      <p:sp>
        <p:nvSpPr>
          <p:cNvPr id="10" name="Text 8"/>
          <p:cNvSpPr/>
          <p:nvPr/>
        </p:nvSpPr>
        <p:spPr>
          <a:xfrm>
            <a:off x="1028343" y="4516005"/>
            <a:ext cx="2148007" cy="362814"/>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Finality</a:t>
            </a:r>
            <a:endParaRPr lang="en-US" sz="1750" dirty="0"/>
          </a:p>
        </p:txBody>
      </p:sp>
      <p:sp>
        <p:nvSpPr>
          <p:cNvPr id="11" name="Text 9"/>
          <p:cNvSpPr/>
          <p:nvPr/>
        </p:nvSpPr>
        <p:spPr>
          <a:xfrm>
            <a:off x="3637598" y="4516005"/>
            <a:ext cx="4749760" cy="1088441"/>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Probabilistic (e.g., 6 confirmations for Bitcoin, ~1 hour). Reversals are increasingly difficult but not impossible.</a:t>
            </a:r>
            <a:endParaRPr lang="en-US" sz="1750" dirty="0"/>
          </a:p>
        </p:txBody>
      </p:sp>
      <p:sp>
        <p:nvSpPr>
          <p:cNvPr id="12" name="Text 10"/>
          <p:cNvSpPr/>
          <p:nvPr/>
        </p:nvSpPr>
        <p:spPr>
          <a:xfrm>
            <a:off x="8848606" y="4516005"/>
            <a:ext cx="4753570" cy="1451254"/>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Economic (2/3 attestations). </a:t>
            </a:r>
            <a:pPr algn="l" indent="0" marL="0">
              <a:lnSpc>
                <a:spcPts val="2850"/>
              </a:lnSpc>
              <a:buNone/>
            </a:pPr>
            <a:r>
              <a:rPr lang="en-US" sz="1750" dirty="0">
                <a:solidFill>
                  <a:srgbClr val="2B0AFF"/>
                </a:solidFill>
                <a:latin typeface="Inter" pitchFamily="34" charset="0"/>
                <a:ea typeface="Inter" pitchFamily="34" charset="-122"/>
                <a:cs typeface="Inter" pitchFamily="34" charset="-120"/>
              </a:rPr>
              <a:t>Deterministic finality after ~12-13 minutes</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Reversals are economically punitive and highly improbable.</a:t>
            </a:r>
            <a:endParaRPr lang="en-US" sz="1750" dirty="0"/>
          </a:p>
        </p:txBody>
      </p:sp>
      <p:sp>
        <p:nvSpPr>
          <p:cNvPr id="13" name="Shape 11"/>
          <p:cNvSpPr/>
          <p:nvPr/>
        </p:nvSpPr>
        <p:spPr>
          <a:xfrm>
            <a:off x="801410" y="6110933"/>
            <a:ext cx="13027581" cy="1738601"/>
          </a:xfrm>
          <a:prstGeom prst="rect">
            <a:avLst/>
          </a:prstGeom>
          <a:solidFill>
            <a:srgbClr val="FFFFFF">
              <a:alpha val="4000"/>
            </a:srgbClr>
          </a:solidFill>
          <a:ln/>
        </p:spPr>
      </p:sp>
      <p:sp>
        <p:nvSpPr>
          <p:cNvPr id="14" name="Text 12"/>
          <p:cNvSpPr/>
          <p:nvPr/>
        </p:nvSpPr>
        <p:spPr>
          <a:xfrm>
            <a:off x="1028343" y="6254606"/>
            <a:ext cx="2148007" cy="362814"/>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Decentralization</a:t>
            </a:r>
            <a:endParaRPr lang="en-US" sz="1750" dirty="0"/>
          </a:p>
        </p:txBody>
      </p:sp>
      <p:sp>
        <p:nvSpPr>
          <p:cNvPr id="15" name="Text 13"/>
          <p:cNvSpPr/>
          <p:nvPr/>
        </p:nvSpPr>
        <p:spPr>
          <a:xfrm>
            <a:off x="3637598" y="6254606"/>
            <a:ext cx="4749760" cy="1451254"/>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Theoretically high (thousands of individual miners), but often centralized into mining pools. Hardware requirements limit participation.</a:t>
            </a:r>
            <a:endParaRPr lang="en-US" sz="1750" dirty="0"/>
          </a:p>
        </p:txBody>
      </p:sp>
      <p:sp>
        <p:nvSpPr>
          <p:cNvPr id="16" name="Text 14"/>
          <p:cNvSpPr/>
          <p:nvPr/>
        </p:nvSpPr>
        <p:spPr>
          <a:xfrm>
            <a:off x="8848606" y="6254606"/>
            <a:ext cx="4753570" cy="1088441"/>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High (hundreds of thousands of validators). Potential risk of stake concentration, but accessible with lower hardware needs.</a:t>
            </a:r>
            <a:endParaRPr lang="en-US" sz="1750" dirty="0"/>
          </a:p>
        </p:txBody>
      </p:sp>
      <p:sp>
        <p:nvSpPr>
          <p:cNvPr id="17" name="Shape 15"/>
          <p:cNvSpPr/>
          <p:nvPr/>
        </p:nvSpPr>
        <p:spPr>
          <a:xfrm>
            <a:off x="801410" y="7849534"/>
            <a:ext cx="13027581" cy="1012974"/>
          </a:xfrm>
          <a:prstGeom prst="rect">
            <a:avLst/>
          </a:prstGeom>
          <a:solidFill>
            <a:srgbClr val="000000">
              <a:alpha val="4000"/>
            </a:srgbClr>
          </a:solidFill>
          <a:ln/>
        </p:spPr>
      </p:sp>
      <p:sp>
        <p:nvSpPr>
          <p:cNvPr id="18" name="Text 16"/>
          <p:cNvSpPr/>
          <p:nvPr/>
        </p:nvSpPr>
        <p:spPr>
          <a:xfrm>
            <a:off x="1028343" y="7993207"/>
            <a:ext cx="2148007"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Energy Consumption</a:t>
            </a:r>
            <a:endParaRPr lang="en-US" sz="1750" dirty="0"/>
          </a:p>
        </p:txBody>
      </p:sp>
      <p:sp>
        <p:nvSpPr>
          <p:cNvPr id="19" name="Text 17"/>
          <p:cNvSpPr/>
          <p:nvPr/>
        </p:nvSpPr>
        <p:spPr>
          <a:xfrm>
            <a:off x="3637598" y="7993207"/>
            <a:ext cx="4749760" cy="725627"/>
          </a:xfrm>
          <a:prstGeom prst="rect">
            <a:avLst/>
          </a:prstGeom>
          <a:noFill/>
          <a:ln/>
        </p:spPr>
        <p:txBody>
          <a:bodyPr wrap="square" lIns="0" tIns="0" rIns="0" bIns="0" rtlCol="0" anchor="t"/>
          <a:lstStyle/>
          <a:p>
            <a:pPr algn="l" indent="0" marL="0">
              <a:lnSpc>
                <a:spcPts val="2850"/>
              </a:lnSpc>
              <a:buNone/>
            </a:pPr>
            <a:r>
              <a:rPr lang="en-US" sz="1750" dirty="0">
                <a:solidFill>
                  <a:srgbClr val="2B0AFF"/>
                </a:solidFill>
                <a:latin typeface="Inter" pitchFamily="34" charset="0"/>
                <a:ea typeface="Inter" pitchFamily="34" charset="-122"/>
                <a:cs typeface="Inter" pitchFamily="34" charset="-120"/>
              </a:rPr>
              <a:t>Very high</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driven by competitive hashing and hardware.</a:t>
            </a:r>
            <a:endParaRPr lang="en-US" sz="1750" dirty="0"/>
          </a:p>
        </p:txBody>
      </p:sp>
      <p:sp>
        <p:nvSpPr>
          <p:cNvPr id="20" name="Text 18"/>
          <p:cNvSpPr/>
          <p:nvPr/>
        </p:nvSpPr>
        <p:spPr>
          <a:xfrm>
            <a:off x="8848606" y="7993207"/>
            <a:ext cx="4753570" cy="725627"/>
          </a:xfrm>
          <a:prstGeom prst="rect">
            <a:avLst/>
          </a:prstGeom>
          <a:noFill/>
          <a:ln/>
        </p:spPr>
        <p:txBody>
          <a:bodyPr wrap="square" lIns="0" tIns="0" rIns="0" bIns="0" rtlCol="0" anchor="t"/>
          <a:lstStyle/>
          <a:p>
            <a:pPr algn="l" indent="0" marL="0">
              <a:lnSpc>
                <a:spcPts val="2850"/>
              </a:lnSpc>
              <a:buNone/>
            </a:pPr>
            <a:r>
              <a:rPr lang="en-US" sz="1750" dirty="0">
                <a:solidFill>
                  <a:srgbClr val="2B0AFF"/>
                </a:solidFill>
                <a:latin typeface="Inter" pitchFamily="34" charset="0"/>
                <a:ea typeface="Inter" pitchFamily="34" charset="-122"/>
                <a:cs typeface="Inter" pitchFamily="34" charset="-120"/>
              </a:rPr>
              <a:t>Extremely low</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orders of magnitude less than PoW, promoting sustainability.</a:t>
            </a:r>
            <a:endParaRPr lang="en-US" sz="1750" dirty="0"/>
          </a:p>
        </p:txBody>
      </p:sp>
      <p:sp>
        <p:nvSpPr>
          <p:cNvPr id="21" name="Shape 19"/>
          <p:cNvSpPr/>
          <p:nvPr/>
        </p:nvSpPr>
        <p:spPr>
          <a:xfrm>
            <a:off x="801410" y="8862507"/>
            <a:ext cx="13027581" cy="1012974"/>
          </a:xfrm>
          <a:prstGeom prst="rect">
            <a:avLst/>
          </a:prstGeom>
          <a:solidFill>
            <a:srgbClr val="FFFFFF">
              <a:alpha val="4000"/>
            </a:srgbClr>
          </a:solidFill>
          <a:ln/>
        </p:spPr>
      </p:sp>
      <p:sp>
        <p:nvSpPr>
          <p:cNvPr id="22" name="Text 20"/>
          <p:cNvSpPr/>
          <p:nvPr/>
        </p:nvSpPr>
        <p:spPr>
          <a:xfrm>
            <a:off x="1028343" y="9006180"/>
            <a:ext cx="2148007" cy="362814"/>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Hardware</a:t>
            </a:r>
            <a:endParaRPr lang="en-US" sz="1750" dirty="0"/>
          </a:p>
        </p:txBody>
      </p:sp>
      <p:sp>
        <p:nvSpPr>
          <p:cNvPr id="23" name="Text 21"/>
          <p:cNvSpPr/>
          <p:nvPr/>
        </p:nvSpPr>
        <p:spPr>
          <a:xfrm>
            <a:off x="3637598" y="9006180"/>
            <a:ext cx="4749760"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Specialized ASICs/GPUs, high electricity consumption.</a:t>
            </a:r>
            <a:endParaRPr lang="en-US" sz="1750" dirty="0"/>
          </a:p>
        </p:txBody>
      </p:sp>
      <p:sp>
        <p:nvSpPr>
          <p:cNvPr id="24" name="Text 22"/>
          <p:cNvSpPr/>
          <p:nvPr/>
        </p:nvSpPr>
        <p:spPr>
          <a:xfrm>
            <a:off x="8848606" y="9006180"/>
            <a:ext cx="4753570" cy="362814"/>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Ordinary servers/laptops, energy-efficient.</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25044"/>
            <a:ext cx="7316391" cy="566837"/>
          </a:xfrm>
          <a:prstGeom prst="rect">
            <a:avLst/>
          </a:prstGeom>
          <a:noFill/>
          <a:ln/>
        </p:spPr>
        <p:txBody>
          <a:bodyPr wrap="none" lIns="0" tIns="0" rIns="0" bIns="0" rtlCol="0" anchor="t"/>
          <a:lstStyle/>
          <a:p>
            <a:pPr algn="l" indent="0" marL="0">
              <a:lnSpc>
                <a:spcPts val="4450"/>
              </a:lnSpc>
              <a:buNone/>
            </a:pPr>
            <a:r>
              <a:rPr lang="en-US" sz="3550" b="1" dirty="0">
                <a:solidFill>
                  <a:srgbClr val="FFFFFF"/>
                </a:solidFill>
                <a:latin typeface="Inter Bold" pitchFamily="34" charset="0"/>
                <a:ea typeface="Inter Bold" pitchFamily="34" charset="-122"/>
                <a:cs typeface="Inter Bold" pitchFamily="34" charset="-120"/>
              </a:rPr>
              <a:t>Real-World Attacks &amp; Conclusion</a:t>
            </a:r>
            <a:endParaRPr lang="en-US" sz="3550" dirty="0"/>
          </a:p>
        </p:txBody>
      </p:sp>
      <p:sp>
        <p:nvSpPr>
          <p:cNvPr id="3" name="Text 1"/>
          <p:cNvSpPr/>
          <p:nvPr/>
        </p:nvSpPr>
        <p:spPr>
          <a:xfrm>
            <a:off x="793790" y="1645398"/>
            <a:ext cx="13042821" cy="725627"/>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Examining historical vulnerabilities and drawing conclusions on the future of consensus mechanisms in decentralized networks.</a:t>
            </a:r>
            <a:endParaRPr lang="en-US" sz="1750" dirty="0"/>
          </a:p>
        </p:txBody>
      </p:sp>
      <p:sp>
        <p:nvSpPr>
          <p:cNvPr id="4" name="Text 2"/>
          <p:cNvSpPr/>
          <p:nvPr/>
        </p:nvSpPr>
        <p:spPr>
          <a:xfrm>
            <a:off x="793790" y="2852872"/>
            <a:ext cx="4807863" cy="425187"/>
          </a:xfrm>
          <a:prstGeom prst="rect">
            <a:avLst/>
          </a:prstGeom>
          <a:noFill/>
          <a:ln/>
        </p:spPr>
        <p:txBody>
          <a:bodyPr wrap="none" lIns="0" tIns="0" rIns="0" bIns="0" rtlCol="0" anchor="t"/>
          <a:lstStyle/>
          <a:p>
            <a:pPr algn="l" indent="0" marL="0">
              <a:lnSpc>
                <a:spcPts val="3300"/>
              </a:lnSpc>
              <a:buNone/>
            </a:pPr>
            <a:r>
              <a:rPr lang="en-US" sz="2650" b="1" dirty="0">
                <a:solidFill>
                  <a:srgbClr val="FFFFFF"/>
                </a:solidFill>
                <a:latin typeface="Inter Bold" pitchFamily="34" charset="0"/>
                <a:ea typeface="Inter Bold" pitchFamily="34" charset="-122"/>
                <a:cs typeface="Inter Bold" pitchFamily="34" charset="-120"/>
              </a:rPr>
              <a:t>Historical &amp; Potential Attacks</a:t>
            </a:r>
            <a:endParaRPr lang="en-US" sz="2650" dirty="0"/>
          </a:p>
        </p:txBody>
      </p:sp>
      <p:sp>
        <p:nvSpPr>
          <p:cNvPr id="5" name="Text 3"/>
          <p:cNvSpPr/>
          <p:nvPr/>
        </p:nvSpPr>
        <p:spPr>
          <a:xfrm>
            <a:off x="793790" y="3504817"/>
            <a:ext cx="6244709" cy="181406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PoW Attacks (e.g., Ethereum Classic 51% Attack, 2020):</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The Ethereum Classic network suffered multiple 51% attacks, demonstrating the vulnerability of smaller PoW chains to hash rate concentration, leading to double-spends and network instability.</a:t>
            </a:r>
            <a:endParaRPr lang="en-US" sz="1750" dirty="0"/>
          </a:p>
        </p:txBody>
      </p:sp>
      <p:sp>
        <p:nvSpPr>
          <p:cNvPr id="6" name="Text 4"/>
          <p:cNvSpPr/>
          <p:nvPr/>
        </p:nvSpPr>
        <p:spPr>
          <a:xfrm>
            <a:off x="793790" y="5398161"/>
            <a:ext cx="6244709" cy="181406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E5E0DF"/>
                </a:solidFill>
                <a:latin typeface="Inter" pitchFamily="34" charset="0"/>
                <a:ea typeface="Inter" pitchFamily="34" charset="-122"/>
                <a:cs typeface="Inter" pitchFamily="34" charset="-120"/>
              </a:rPr>
              <a:t>PoS Attacks (Post-Merge):</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As of present, Ethereum's PoS network has not experienced any major consensus-level attacks since the Merge. This highlights the effectiveness of its design, slashing mechanisms, and robust validator participation.</a:t>
            </a:r>
            <a:endParaRPr lang="en-US" sz="1750" dirty="0"/>
          </a:p>
        </p:txBody>
      </p:sp>
      <p:sp>
        <p:nvSpPr>
          <p:cNvPr id="7" name="Text 5"/>
          <p:cNvSpPr/>
          <p:nvPr/>
        </p:nvSpPr>
        <p:spPr>
          <a:xfrm>
            <a:off x="7599521" y="2852872"/>
            <a:ext cx="6244709" cy="850374"/>
          </a:xfrm>
          <a:prstGeom prst="rect">
            <a:avLst/>
          </a:prstGeom>
          <a:noFill/>
          <a:ln/>
        </p:spPr>
        <p:txBody>
          <a:bodyPr wrap="square" lIns="0" tIns="0" rIns="0" bIns="0" rtlCol="0" anchor="t"/>
          <a:lstStyle/>
          <a:p>
            <a:pPr algn="l" indent="0" marL="0">
              <a:lnSpc>
                <a:spcPts val="3300"/>
              </a:lnSpc>
              <a:buNone/>
            </a:pPr>
            <a:r>
              <a:rPr lang="en-US" sz="2650" b="1" dirty="0">
                <a:solidFill>
                  <a:srgbClr val="FFFFFF"/>
                </a:solidFill>
                <a:latin typeface="Inter Bold" pitchFamily="34" charset="0"/>
                <a:ea typeface="Inter Bold" pitchFamily="34" charset="-122"/>
                <a:cs typeface="Inter Bold" pitchFamily="34" charset="-120"/>
              </a:rPr>
              <a:t>Conclusion: The Inevitable Shift to PoS</a:t>
            </a:r>
            <a:endParaRPr lang="en-US" sz="2650" dirty="0"/>
          </a:p>
        </p:txBody>
      </p:sp>
      <p:sp>
        <p:nvSpPr>
          <p:cNvPr id="8" name="Text 6"/>
          <p:cNvSpPr/>
          <p:nvPr/>
        </p:nvSpPr>
        <p:spPr>
          <a:xfrm>
            <a:off x="7939683" y="3958334"/>
            <a:ext cx="5904548" cy="2176881"/>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Inter" pitchFamily="34" charset="0"/>
                <a:ea typeface="Inter" pitchFamily="34" charset="-122"/>
                <a:cs typeface="Inter" pitchFamily="34" charset="-120"/>
              </a:rPr>
              <a:t>Proof-of-Stake offers a superior balance of security, efficiency, and decentralization compared to Proof-of-Work. The ongoing transition to PoS across major blockchains is not merely an optimization but an inevitable evolution towards more sustainable and scalable Web3 infrastructure.</a:t>
            </a:r>
            <a:endParaRPr lang="en-US" sz="1750" dirty="0"/>
          </a:p>
        </p:txBody>
      </p:sp>
      <p:sp>
        <p:nvSpPr>
          <p:cNvPr id="9" name="Shape 7"/>
          <p:cNvSpPr/>
          <p:nvPr/>
        </p:nvSpPr>
        <p:spPr>
          <a:xfrm>
            <a:off x="7599521" y="3958334"/>
            <a:ext cx="30480" cy="2176881"/>
          </a:xfrm>
          <a:prstGeom prst="rect">
            <a:avLst/>
          </a:prstGeom>
          <a:solidFill>
            <a:srgbClr val="2B0AFF"/>
          </a:solidFill>
          <a:ln/>
        </p:spPr>
      </p:sp>
      <p:sp>
        <p:nvSpPr>
          <p:cNvPr id="10" name="Text 8"/>
          <p:cNvSpPr/>
          <p:nvPr/>
        </p:nvSpPr>
        <p:spPr>
          <a:xfrm>
            <a:off x="793790" y="7546594"/>
            <a:ext cx="13042821" cy="362814"/>
          </a:xfrm>
          <a:prstGeom prst="rect">
            <a:avLst/>
          </a:prstGeom>
          <a:noFill/>
          <a:ln/>
        </p:spPr>
        <p:txBody>
          <a:bodyPr wrap="none" lIns="0" tIns="0" rIns="0" bIns="0" rtlCol="0" anchor="t"/>
          <a:lstStyle/>
          <a:p>
            <a:pPr algn="l" indent="0" marL="0">
              <a:lnSpc>
                <a:spcPts val="2850"/>
              </a:lnSpc>
              <a:buNone/>
            </a:pPr>
            <a:r>
              <a:rPr lang="en-US" sz="1750" dirty="0">
                <a:solidFill>
                  <a:srgbClr val="2B0AFF"/>
                </a:solidFill>
                <a:latin typeface="Inter" pitchFamily="34" charset="0"/>
                <a:ea typeface="Inter" pitchFamily="34" charset="-122"/>
                <a:cs typeface="Inter" pitchFamily="34" charset="-120"/>
              </a:rPr>
              <a:t>Thank you for your attention!</a:t>
            </a:r>
            <a:pPr algn="l" indent="0" marL="0">
              <a:lnSpc>
                <a:spcPts val="2850"/>
              </a:lnSpc>
              <a:buNone/>
            </a:pPr>
            <a:r>
              <a:rPr lang="en-US" sz="1750" dirty="0">
                <a:solidFill>
                  <a:srgbClr val="E5E0DF"/>
                </a:solidFill>
                <a:latin typeface="Inter" pitchFamily="34" charset="0"/>
                <a:ea typeface="Inter" pitchFamily="34" charset="-122"/>
                <a:cs typeface="Inter" pitchFamily="34" charset="-120"/>
              </a:rPr>
              <a:t> Questions?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2026-01-11T20:48:34Z</dcterms:created>
  <dcterms:modified xsi:type="dcterms:W3CDTF">2026-01-11T20:48:34Z</dcterms:modified>
</cp:coreProperties>
</file>